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8"/>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a8b756e-0ab1-27c3-6c20-502bcbeef48a}">
          <p14:sldIdLst>
            <p14:sldId id="256"/>
          </p14:sldIdLst>
        </p14:section>
        <p14:section name="The problem" id="{af99bcf6-7dd1-4bd4-3bc6-98be667f35e4}">
          <p14:sldIdLst>
            <p14:sldId id="257"/>
            <p14:sldId id="258"/>
            <p14:sldId id="259"/>
          </p14:sldIdLst>
        </p14:section>
        <p14:section name="The product" id="{0a3ee44c-c984-041b-1e3e-39bb1abdc1b6}">
          <p14:sldIdLst>
            <p14:sldId id="260"/>
            <p14:sldId id="261"/>
            <p14:sldId id="262"/>
          </p14:sldIdLst>
        </p14:section>
        <p14:section name="How it is built" id="{e548662a-a56a-4b0a-0e13-f63bca239589}">
          <p14:sldIdLst>
            <p14:sldId id="263"/>
            <p14:sldId id="264"/>
          </p14:sldIdLst>
        </p14:section>
        <p14:section name="Next" id="{121f04c6-24fc-1e70-4cf9-50b1282adfd2}">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entry. The nonprofit partner is Autism Speaks, whose Autism Treatment Network published the toolkit this is built on. My daughter is autistic; my wife is the first test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scene, not the technology. Every parent in the room has lived this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gap the app closes. The craft project is the barrier, not the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quote is the thesis of the whole product. Everything in the build serves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three-part package is lifted straight from the prompts I had already written; all three converged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'why not just use a chatbot'. The chatbot makes the artifact. The app owns the follow-through.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not demo scope. Say so out loud: it is the next support type through the same pipeline, which is why it costs one branch rather than a second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Composer drafts against the grounded toolkit. Reviewer bounces it when labels run over three words or the Then card is missing. Illustrator searches the child's card library before generating, so 'brush teeth' keeps the same picture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Validations in server actions, so a model that drifts cannot ship a bad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demo path first and leave nothing on it stubbed, because the judges re-run the app after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pursuing TRIAD at Vanderbilt and local Autism Society chapters, where a 12-month ODC license would go furthest.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B1E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73736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r>
              <a:rPr lang="en-US" sz="4200" b="1" dirty="0">
                <a:solidFill>
                  <a:schemeClr val="bg1"/>
                </a:solidFill>
              </a:rPr>
              <a:t> </a:t>
            </a:r>
            <a:endParaRPr lang="en-US" sz="4200" dirty="0"/>
          </a:p>
        </p:txBody>
      </p:sp>
      <p:sp>
        <p:nvSpPr>
          <p:cNvPr id="3" name="Text 0"/>
          <p:cNvSpPr/>
          <p:nvPr>
            <p:ph idx="101" type="body" hasCustomPrompt="1"/>
          </p:nvPr>
        </p:nvSpPr>
        <p:spPr>
          <a:xfrm>
            <a:off x="731520" y="3977640"/>
            <a:ext cx="8595360" cy="1188720"/>
          </a:xfrm>
          <a:prstGeom prst="rect">
            <a:avLst/>
          </a:prstGeom>
          <a:noFill/>
          <a:ln/>
        </p:spPr>
        <p:txBody>
          <a:bodyPr wrap="square" rtlCol="0"/>
          <a:lstStyle>
            <a:lvl1pPr algn="l" indent="0" marL="0">
              <a:buNone/>
              <a:defRPr lang="en-US" sz="1800" dirty="0">
                <a:solidFill>
                  <a:srgbClr val="5BA4CF"/>
                </a:solidFill>
              </a:defRPr>
            </a:lvl1pPr>
          </a:lstStyle>
          <a:p>
            <a:pPr algn="l" indent="0" marL="0">
              <a:buNone/>
            </a:pPr>
            <a:r>
              <a:rPr lang="en-US" sz="1800" dirty="0">
                <a:solidFill>
                  <a:srgbClr val="5BA4CF"/>
                </a:solidFill>
              </a:rPr>
              <a:t> </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ULLBLEED">
    <p:bg>
      <p:bgPr>
        <a:solidFill>
          <a:srgbClr val="0B1E3D"/>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1"/>
                </a:solidFill>
              </a:rPr>
              <a:t>Autism Visual Supports</a:t>
            </a:r>
            <a:endParaRPr lang="en-US" sz="1000" dirty="0"/>
          </a:p>
        </p:txBody>
      </p:sp>
      <p:sp>
        <p:nvSpPr>
          <p:cNvPr id="4" name="Text 1"/>
          <p:cNvSpPr txBox="1"/>
          <p:nvPr/>
        </p:nvSpPr>
        <p:spPr>
          <a:xfrm>
            <a:off x="8686800" y="6400800"/>
            <a:ext cx="2926080" cy="274320"/>
          </a:xfrm>
          <a:prstGeom prst="rect">
            <a:avLst/>
          </a:prstGeom>
          <a:noFill/>
          <a:ln/>
        </p:spPr>
        <p:txBody>
          <a:bodyPr wrap="square" lIns="0" tIns="0" rIns="0" bIns="0" rtlCol="0" anchor="ctr"/>
          <a:lstStyle/>
          <a:p>
            <a:pPr algn="r" indent="0" marL="0">
              <a:buNone/>
            </a:pPr>
            <a:r>
              <a:rPr lang="en-US" sz="1000" dirty="0">
                <a:solidFill>
                  <a:schemeClr val="accent1"/>
                </a:solidFill>
              </a:rPr>
              <a:t>Build for the Future 2026</a:t>
            </a:r>
            <a:endParaRPr lang="en-US" sz="1000" dirty="0"/>
          </a:p>
        </p:txBody>
      </p:sp>
      <p:sp>
        <p:nvSpPr>
          <p:cNvPr id="25" name="Slide Number Placeholder 0"/>
          <p:cNvSpPr>
            <a:spLocks noGrp="1"/>
          </p:cNvSpPr>
          <p:nvPr>
            <p:ph type="sldNum" sz="quarter" idx="4294967295"/>
          </p:nvPr>
        </p:nvSpPr>
        <p:spPr>
          <a:xfrm>
            <a:off x="115214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A4CF"/>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OTE">
    <p:bg>
      <p:bgPr>
        <a:solidFill>
          <a:srgbClr val="F7FB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371600"/>
            <a:ext cx="10515600" cy="2926080"/>
          </a:xfrm>
          <a:prstGeom prst="rect">
            <a:avLst/>
          </a:prstGeom>
          <a:noFill/>
          <a:ln/>
        </p:spPr>
        <p:txBody>
          <a:bodyPr wrap="square" rtlCol="0"/>
          <a:lstStyle>
            <a:lvl1pPr indent="0" marL="0">
              <a:buNone/>
              <a:defRPr lang="en-US" sz="3200" i="1" dirty="0">
                <a:solidFill>
                  <a:schemeClr val="tx1"/>
                </a:solidFill>
              </a:defRPr>
            </a:lvl1pPr>
          </a:lstStyle>
          <a:p>
            <a:pPr indent="0" marL="0">
              <a:buNone/>
            </a:pPr>
            <a:r>
              <a:rPr lang="en-US" sz="3200" i="1" dirty="0">
                <a:solidFill>
                  <a:schemeClr val="tx1"/>
                </a:solidFill>
              </a:rPr>
              <a:t> </a:t>
            </a:r>
            <a:endParaRPr lang="en-US" sz="3200" dirty="0"/>
          </a:p>
        </p:txBody>
      </p:sp>
      <p:sp>
        <p:nvSpPr>
          <p:cNvPr id="3" name="Text 0"/>
          <p:cNvSpPr/>
          <p:nvPr>
            <p:ph idx="101" type="body" hasCustomPrompt="1"/>
          </p:nvPr>
        </p:nvSpPr>
        <p:spPr>
          <a:xfrm>
            <a:off x="822960" y="4572000"/>
            <a:ext cx="10515600" cy="822960"/>
          </a:xfrm>
          <a:prstGeom prst="rect">
            <a:avLst/>
          </a:prstGeom>
          <a:noFill/>
          <a:ln/>
        </p:spPr>
        <p:txBody>
          <a:bodyPr wrap="square" rtlCol="0"/>
          <a:lstStyle>
            <a:lvl1pPr indent="0" marL="0">
              <a:buNone/>
              <a:defRPr lang="en-US" sz="1500" dirty="0">
                <a:solidFill>
                  <a:srgbClr val="2E7CB8"/>
                </a:solidFill>
              </a:defRPr>
            </a:lvl1pPr>
          </a:lstStyle>
          <a:p>
            <a:pPr indent="0" marL="0">
              <a:buNone/>
            </a:pPr>
            <a:r>
              <a:rPr lang="en-US" sz="1500" dirty="0">
                <a:solidFill>
                  <a:srgbClr val="2E7CB8"/>
                </a:solidFill>
              </a:rPr>
              <a:t> </a:t>
            </a:r>
            <a:endParaRPr lang="en-US" sz="1500" dirty="0"/>
          </a:p>
        </p:txBody>
      </p:sp>
      <p:sp>
        <p:nvSpPr>
          <p:cNvPr id="4" name="Text 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1"/>
                </a:solidFill>
              </a:rPr>
              <a:t>Autism Visual Supports</a:t>
            </a:r>
            <a:endParaRPr lang="en-US" sz="1000" dirty="0"/>
          </a:p>
        </p:txBody>
      </p:sp>
      <p:sp>
        <p:nvSpPr>
          <p:cNvPr id="5" name="Text 1"/>
          <p:cNvSpPr txBox="1"/>
          <p:nvPr/>
        </p:nvSpPr>
        <p:spPr>
          <a:xfrm>
            <a:off x="8686800" y="6400800"/>
            <a:ext cx="2926080" cy="274320"/>
          </a:xfrm>
          <a:prstGeom prst="rect">
            <a:avLst/>
          </a:prstGeom>
          <a:noFill/>
          <a:ln/>
        </p:spPr>
        <p:txBody>
          <a:bodyPr wrap="square" lIns="0" tIns="0" rIns="0" bIns="0" rtlCol="0" anchor="ctr"/>
          <a:lstStyle/>
          <a:p>
            <a:pPr algn="r" indent="0" marL="0">
              <a:buNone/>
            </a:pPr>
            <a:r>
              <a:rPr lang="en-US" sz="1000" dirty="0">
                <a:solidFill>
                  <a:schemeClr val="accent1"/>
                </a:solidFill>
              </a:rPr>
              <a:t>Build for the Future 2026</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A4C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descr="/mnt/c/users/ajaro/claude/resume/hackathon-future/assets/cover-v7-tablet-floor.png">    </p:cNvPr>
          <p:cNvPicPr>
            <a:picLocks noChangeAspect="1"/>
          </p:cNvPicPr>
          <p:nvPr/>
        </p:nvPicPr>
        <p:blipFill>
          <a:blip r:embed="rId1"/>
          <a:stretch>
            <a:fillRect/>
          </a:stretch>
        </p:blipFill>
        <p:spPr>
          <a:xfrm>
            <a:off x="0" y="0"/>
            <a:ext cx="12161520" cy="6858000"/>
          </a:xfrm>
          <a:prstGeom prst="rect">
            <a:avLst/>
          </a:prstGeom>
        </p:spPr>
      </p:pic>
      <p:sp>
        <p:nvSpPr>
          <p:cNvPr id="3" name="Text 0"/>
          <p:cNvSpPr txBox="1"/>
          <p:nvPr/>
        </p:nvSpPr>
        <p:spPr>
          <a:xfrm>
            <a:off x="8229600" y="6126480"/>
            <a:ext cx="3429000" cy="347472"/>
          </a:xfrm>
          <a:prstGeom prst="rect">
            <a:avLst/>
          </a:prstGeom>
          <a:noFill/>
          <a:ln/>
        </p:spPr>
        <p:txBody>
          <a:bodyPr wrap="square" lIns="0" tIns="0" rIns="0" bIns="0" rtlCol="0" anchor="ctr"/>
          <a:lstStyle/>
          <a:p>
            <a:pPr algn="r" indent="0" marL="0">
              <a:buNone/>
            </a:pPr>
            <a:r>
              <a:rPr lang="en-US" sz="1500" dirty="0">
                <a:solidFill>
                  <a:srgbClr val="5BA4CF"/>
                </a:solidFill>
              </a:rPr>
              <a:t>A.J. Aronoff</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3200" b="1" dirty="0">
                <a:solidFill>
                  <a:schemeClr val="tx1"/>
                </a:solidFill>
              </a:rPr>
              <a:t>Four minutes to get out the door</a:t>
            </a:r>
            <a:endParaRPr lang="en-US" sz="3200" dirty="0"/>
          </a:p>
        </p:txBody>
      </p:sp>
      <p:sp>
        <p:nvSpPr>
          <p:cNvPr id="3" name="Text 1"/>
          <p:cNvSpPr txBox="1"/>
          <p:nvPr/>
        </p:nvSpPr>
        <p:spPr>
          <a:xfrm>
            <a:off x="548640" y="1554480"/>
            <a:ext cx="5852160" cy="3108960"/>
          </a:xfrm>
          <a:prstGeom prst="rect">
            <a:avLst/>
          </a:prstGeom>
          <a:noFill/>
          <a:ln/>
        </p:spPr>
        <p:txBody>
          <a:bodyPr wrap="square" lIns="0" tIns="0" rIns="0" bIns="0" rtlCol="0" anchor="ctr"/>
          <a:lstStyle/>
          <a:p>
            <a:pPr indent="0" marL="0">
              <a:lnSpc>
                <a:spcPct val="120000"/>
              </a:lnSpc>
              <a:buNone/>
            </a:pPr>
            <a:r>
              <a:rPr lang="en-US" sz="1800" dirty="0">
                <a:solidFill>
                  <a:schemeClr val="tx1"/>
                </a:solidFill>
              </a:rPr>
              <a:t>A child is on the floor with a toy. In four minutes they need shoes on with their go-bag and they need to be in the car.</a:t>
            </a:r>
            <a:endParaRPr lang="en-US" sz="1800" dirty="0"/>
          </a:p>
          <a:p>
            <a:pPr indent="0" marL="0">
              <a:lnSpc>
                <a:spcPct val="120000"/>
              </a:lnSpc>
              <a:buNone/>
            </a:pPr>
            <a:endParaRPr lang="en-US" sz="1800" dirty="0"/>
          </a:p>
          <a:p>
            <a:pPr indent="0" marL="0">
              <a:lnSpc>
                <a:spcPct val="120000"/>
              </a:lnSpc>
              <a:buNone/>
            </a:pPr>
            <a:r>
              <a:rPr lang="en-US" sz="1800" dirty="0">
                <a:solidFill>
                  <a:schemeClr val="tx1"/>
                </a:solidFill>
              </a:rPr>
              <a:t>“We have to go now” does not work. Saying it louder works less.</a:t>
            </a:r>
            <a:endParaRPr lang="en-US" sz="1800" dirty="0"/>
          </a:p>
          <a:p>
            <a:pPr indent="0" marL="0">
              <a:lnSpc>
                <a:spcPct val="120000"/>
              </a:lnSpc>
              <a:buNone/>
            </a:pPr>
            <a:endParaRPr lang="en-US" sz="1800" dirty="0"/>
          </a:p>
          <a:p>
            <a:pPr indent="0" marL="0">
              <a:lnSpc>
                <a:spcPct val="120000"/>
              </a:lnSpc>
              <a:buNone/>
            </a:pPr>
            <a:r>
              <a:rPr lang="en-US" sz="1800" dirty="0">
                <a:solidFill>
                  <a:schemeClr val="tx1"/>
                </a:solidFill>
              </a:rPr>
              <a:t>What works is a picture.</a:t>
            </a:r>
            <a:endParaRPr lang="en-US" sz="1800" dirty="0"/>
          </a:p>
        </p:txBody>
      </p:sp>
      <p:sp>
        <p:nvSpPr>
          <p:cNvPr id="4" name="pullquote"/>
          <p:cNvSpPr/>
          <p:nvPr/>
        </p:nvSpPr>
        <p:spPr>
          <a:xfrm>
            <a:off x="548640" y="4846320"/>
            <a:ext cx="5852160" cy="914400"/>
          </a:xfrm>
          <a:prstGeom prst="roundRect">
            <a:avLst>
              <a:gd name="adj" fmla="val 10000"/>
            </a:avLst>
          </a:prstGeom>
          <a:solidFill>
            <a:srgbClr val="6BBF8E"/>
          </a:solidFill>
          <a:ln/>
        </p:spPr>
      </p:sp>
      <p:sp>
        <p:nvSpPr>
          <p:cNvPr id="5" name="Text 3"/>
          <p:cNvSpPr txBox="1"/>
          <p:nvPr/>
        </p:nvSpPr>
        <p:spPr>
          <a:xfrm>
            <a:off x="548640" y="4846320"/>
            <a:ext cx="5852160" cy="914400"/>
          </a:xfrm>
          <a:prstGeom prst="rect">
            <a:avLst/>
          </a:prstGeom>
          <a:noFill/>
          <a:ln/>
        </p:spPr>
        <p:txBody>
          <a:bodyPr wrap="square" lIns="0" tIns="0" rIns="0" bIns="0" rtlCol="0" anchor="ctr"/>
          <a:lstStyle/>
          <a:p>
            <a:pPr algn="ctr" indent="0" marL="0">
              <a:buNone/>
            </a:pPr>
            <a:r>
              <a:rPr lang="en-US" sz="2400" b="1" dirty="0">
                <a:solidFill>
                  <a:srgbClr val="FFFFFF"/>
                </a:solidFill>
              </a:rPr>
              <a:t>First shoes.  Then swing.</a:t>
            </a:r>
            <a:endParaRPr lang="en-US" sz="2400" dirty="0"/>
          </a:p>
        </p:txBody>
      </p:sp>
      <p:pic>
        <p:nvPicPr>
          <p:cNvPr id="6" name="board" descr="/mnt/c/users/ajaro/claude/resume/hackathon-future/assets/deck-board.png">    </p:cNvPr>
          <p:cNvPicPr>
            <a:picLocks noChangeAspect="1"/>
          </p:cNvPicPr>
          <p:nvPr/>
        </p:nvPicPr>
        <p:blipFill>
          <a:blip r:embed="rId1"/>
          <a:stretch>
            <a:fillRect/>
          </a:stretch>
        </p:blipFill>
        <p:spPr>
          <a:xfrm>
            <a:off x="6766560" y="1645920"/>
            <a:ext cx="4846320" cy="3319272"/>
          </a:xfrm>
          <a:prstGeom prst="rect">
            <a:avLst/>
          </a:prstGeom>
        </p:spPr>
      </p:pic>
      <p:sp>
        <p:nvSpPr>
          <p:cNvPr id="7" name="Text 4"/>
          <p:cNvSpPr txBox="1"/>
          <p:nvPr/>
        </p:nvSpPr>
        <p:spPr>
          <a:xfrm>
            <a:off x="6766560" y="5074920"/>
            <a:ext cx="4846320" cy="365760"/>
          </a:xfrm>
          <a:prstGeom prst="rect">
            <a:avLst/>
          </a:prstGeom>
          <a:noFill/>
          <a:ln/>
        </p:spPr>
        <p:txBody>
          <a:bodyPr wrap="square" lIns="0" tIns="0" rIns="0" bIns="0" rtlCol="0" anchor="ctr"/>
          <a:lstStyle/>
          <a:p>
            <a:pPr algn="ctr" indent="0" marL="0">
              <a:buNone/>
            </a:pPr>
            <a:r>
              <a:rPr lang="en-US" sz="1300" i="1" dirty="0">
                <a:solidFill>
                  <a:srgbClr val="718096"/>
                </a:solidFill>
              </a:rPr>
              <a:t>Two cards, in order, where the child can see them.</a:t>
            </a:r>
            <a:endParaRPr lang="en-US" sz="1300" dirty="0"/>
          </a:p>
        </p:txBody>
      </p:sp>
      <p:sp>
        <p:nvSpPr>
          <p:cNvPr id="25" name="Slide Number Placeholder 0"/>
          <p:cNvSpPr>
            <a:spLocks noGrp="1"/>
          </p:cNvSpPr>
          <p:nvPr>
            <p:ph type="sldNum" sz="quarter" idx="4294967295"/>
          </p:nvPr>
        </p:nvSpPr>
        <p:spPr>
          <a:xfrm>
            <a:off x="115214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A4C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3200" b="1" dirty="0">
                <a:solidFill>
                  <a:schemeClr val="tx1"/>
                </a:solidFill>
              </a:rPr>
              <a:t>The method works. The making does not</a:t>
            </a:r>
            <a:endParaRPr lang="en-US" sz="3200" dirty="0"/>
          </a:p>
        </p:txBody>
      </p:sp>
      <p:sp>
        <p:nvSpPr>
          <p:cNvPr id="3" name="card-What the research says"/>
          <p:cNvSpPr/>
          <p:nvPr/>
        </p:nvSpPr>
        <p:spPr>
          <a:xfrm>
            <a:off x="548640" y="1508760"/>
            <a:ext cx="5394960" cy="1828800"/>
          </a:xfrm>
          <a:prstGeom prst="roundRect">
            <a:avLst>
              <a:gd name="adj" fmla="val 6000"/>
            </a:avLst>
          </a:prstGeom>
          <a:solidFill>
            <a:srgbClr val="F7FBFF"/>
          </a:solidFill>
          <a:ln w="22225">
            <a:solidFill>
              <a:srgbClr val="2E7CB8"/>
            </a:solidFill>
            <a:prstDash val="solid"/>
          </a:ln>
        </p:spPr>
      </p:sp>
      <p:sp>
        <p:nvSpPr>
          <p:cNvPr id="4" name="Text 2"/>
          <p:cNvSpPr txBox="1"/>
          <p:nvPr/>
        </p:nvSpPr>
        <p:spPr>
          <a:xfrm>
            <a:off x="822960" y="1737360"/>
            <a:ext cx="4846320" cy="384048"/>
          </a:xfrm>
          <a:prstGeom prst="rect">
            <a:avLst/>
          </a:prstGeom>
          <a:noFill/>
          <a:ln/>
        </p:spPr>
        <p:txBody>
          <a:bodyPr wrap="square" lIns="0" tIns="0" rIns="0" bIns="0" rtlCol="0" anchor="ctr"/>
          <a:lstStyle/>
          <a:p>
            <a:pPr indent="0" marL="0">
              <a:buNone/>
            </a:pPr>
            <a:r>
              <a:rPr lang="en-US" sz="1800" b="1" dirty="0">
                <a:solidFill>
                  <a:srgbClr val="2E7CB8"/>
                </a:solidFill>
              </a:rPr>
              <a:t>What the research says</a:t>
            </a:r>
            <a:endParaRPr lang="en-US" sz="1800" dirty="0"/>
          </a:p>
        </p:txBody>
      </p:sp>
      <p:sp>
        <p:nvSpPr>
          <p:cNvPr id="5" name="Text 3"/>
          <p:cNvSpPr txBox="1"/>
          <p:nvPr/>
        </p:nvSpPr>
        <p:spPr>
          <a:xfrm>
            <a:off x="822960" y="2194560"/>
            <a:ext cx="4846320" cy="868680"/>
          </a:xfrm>
          <a:prstGeom prst="rect">
            <a:avLst/>
          </a:prstGeom>
          <a:noFill/>
          <a:ln/>
        </p:spPr>
        <p:txBody>
          <a:bodyPr wrap="square" lIns="0" tIns="0" rIns="0" bIns="0" rtlCol="0" anchor="t"/>
          <a:lstStyle/>
          <a:p>
            <a:pPr indent="0" marL="0">
              <a:buNone/>
            </a:pPr>
            <a:r>
              <a:rPr lang="en-US" sz="1400" dirty="0">
                <a:solidFill>
                  <a:schemeClr val="tx1"/>
                </a:solidFill>
              </a:rPr>
              <a:t>First–Then boards, visual schedules and parameter cards are documented practice in the Vanderbilt TRIAD toolkit, published through the Autism Speaks Autism Treatment Network.</a:t>
            </a:r>
            <a:endParaRPr lang="en-US" sz="1400" dirty="0"/>
          </a:p>
        </p:txBody>
      </p:sp>
      <p:sp>
        <p:nvSpPr>
          <p:cNvPr id="6" name="card-And in the standards"/>
          <p:cNvSpPr/>
          <p:nvPr/>
        </p:nvSpPr>
        <p:spPr>
          <a:xfrm>
            <a:off x="548640" y="3611880"/>
            <a:ext cx="5394960" cy="1828800"/>
          </a:xfrm>
          <a:prstGeom prst="roundRect">
            <a:avLst>
              <a:gd name="adj" fmla="val 6000"/>
            </a:avLst>
          </a:prstGeom>
          <a:solidFill>
            <a:srgbClr val="F7FBFF"/>
          </a:solidFill>
          <a:ln w="22225">
            <a:solidFill>
              <a:srgbClr val="006B3C"/>
            </a:solidFill>
            <a:prstDash val="solid"/>
          </a:ln>
        </p:spPr>
      </p:sp>
      <p:sp>
        <p:nvSpPr>
          <p:cNvPr id="7" name="Text 5"/>
          <p:cNvSpPr txBox="1"/>
          <p:nvPr/>
        </p:nvSpPr>
        <p:spPr>
          <a:xfrm>
            <a:off x="822960" y="3840480"/>
            <a:ext cx="4846320" cy="384048"/>
          </a:xfrm>
          <a:prstGeom prst="rect">
            <a:avLst/>
          </a:prstGeom>
          <a:noFill/>
          <a:ln/>
        </p:spPr>
        <p:txBody>
          <a:bodyPr wrap="square" lIns="0" tIns="0" rIns="0" bIns="0" rtlCol="0" anchor="ctr"/>
          <a:lstStyle/>
          <a:p>
            <a:pPr indent="0" marL="0">
              <a:buNone/>
            </a:pPr>
            <a:r>
              <a:rPr lang="en-US" sz="1800" b="1" dirty="0">
                <a:solidFill>
                  <a:srgbClr val="006B3C"/>
                </a:solidFill>
              </a:rPr>
              <a:t>And in the standards</a:t>
            </a:r>
            <a:endParaRPr lang="en-US" sz="1800" dirty="0"/>
          </a:p>
        </p:txBody>
      </p:sp>
      <p:sp>
        <p:nvSpPr>
          <p:cNvPr id="8" name="Text 6"/>
          <p:cNvSpPr txBox="1"/>
          <p:nvPr/>
        </p:nvSpPr>
        <p:spPr>
          <a:xfrm>
            <a:off x="822960" y="4297680"/>
            <a:ext cx="4846320" cy="868680"/>
          </a:xfrm>
          <a:prstGeom prst="rect">
            <a:avLst/>
          </a:prstGeom>
          <a:noFill/>
          <a:ln/>
        </p:spPr>
        <p:txBody>
          <a:bodyPr wrap="square" lIns="0" tIns="0" rIns="0" bIns="0" rtlCol="0" anchor="t"/>
          <a:lstStyle/>
          <a:p>
            <a:pPr indent="0" marL="0">
              <a:buNone/>
            </a:pPr>
            <a:r>
              <a:rPr lang="en-US" sz="1400" dirty="0">
                <a:solidFill>
                  <a:schemeClr val="tx1"/>
                </a:solidFill>
              </a:rPr>
              <a:t>The National Autism Center lists Schedules, Antecedent Packages and Story-based Intervention among the interventions with compelling scientific evidence.</a:t>
            </a:r>
            <a:endParaRPr lang="en-US" sz="1400" dirty="0"/>
          </a:p>
        </p:txBody>
      </p:sp>
      <p:sp>
        <p:nvSpPr>
          <p:cNvPr id="9" name="cost"/>
          <p:cNvSpPr/>
          <p:nvPr/>
        </p:nvSpPr>
        <p:spPr>
          <a:xfrm>
            <a:off x="6400800" y="1508760"/>
            <a:ext cx="5212080" cy="3931920"/>
          </a:xfrm>
          <a:prstGeom prst="roundRect">
            <a:avLst>
              <a:gd name="adj" fmla="val 2791"/>
            </a:avLst>
          </a:prstGeom>
          <a:solidFill>
            <a:srgbClr val="FDF3E3"/>
          </a:solidFill>
          <a:ln w="25400">
            <a:solidFill>
              <a:srgbClr val="F9C74F"/>
            </a:solidFill>
            <a:prstDash val="solid"/>
          </a:ln>
        </p:spPr>
      </p:sp>
      <p:sp>
        <p:nvSpPr>
          <p:cNvPr id="10" name="Text 8"/>
          <p:cNvSpPr txBox="1"/>
          <p:nvPr/>
        </p:nvSpPr>
        <p:spPr>
          <a:xfrm>
            <a:off x="6675120" y="1828800"/>
            <a:ext cx="4663440" cy="822960"/>
          </a:xfrm>
          <a:prstGeom prst="rect">
            <a:avLst/>
          </a:prstGeom>
          <a:noFill/>
          <a:ln/>
        </p:spPr>
        <p:txBody>
          <a:bodyPr wrap="square" lIns="0" tIns="0" rIns="0" bIns="0" rtlCol="0" anchor="ctr"/>
          <a:lstStyle/>
          <a:p>
            <a:pPr indent="0" marL="0">
              <a:buNone/>
            </a:pPr>
            <a:r>
              <a:rPr lang="en-US" sz="1900" b="1" dirty="0">
                <a:solidFill>
                  <a:schemeClr val="tx1"/>
                </a:solidFill>
              </a:rPr>
              <a:t>So why do most parents make two or three boards, ever?</a:t>
            </a:r>
            <a:endParaRPr lang="en-US" sz="1900" dirty="0"/>
          </a:p>
        </p:txBody>
      </p:sp>
      <p:sp>
        <p:nvSpPr>
          <p:cNvPr id="11" name="Text 9"/>
          <p:cNvSpPr txBox="1"/>
          <p:nvPr/>
        </p:nvSpPr>
        <p:spPr>
          <a:xfrm>
            <a:off x="6675120" y="2743200"/>
            <a:ext cx="4663440" cy="146304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chemeClr val="tx1"/>
                </a:solidFill>
              </a:rPr>
              <a:t>Find pictures the child recognises</a:t>
            </a:r>
            <a:endParaRPr lang="en-US" sz="1500" dirty="0"/>
          </a:p>
          <a:p>
            <a:pPr marL="342900" indent="-342900">
              <a:spcAft>
                <a:spcPts val="600"/>
              </a:spcAft>
              <a:buSzPct val="100000"/>
              <a:buChar char="•"/>
            </a:pPr>
            <a:r>
              <a:rPr lang="en-US" sz="1500" dirty="0">
                <a:solidFill>
                  <a:schemeClr val="tx1"/>
                </a:solidFill>
              </a:rPr>
              <a:t>Cut them to size</a:t>
            </a:r>
            <a:endParaRPr lang="en-US" sz="1500" dirty="0"/>
          </a:p>
          <a:p>
            <a:pPr marL="342900" indent="-342900">
              <a:spcAft>
                <a:spcPts val="600"/>
              </a:spcAft>
              <a:buSzPct val="100000"/>
              <a:buChar char="•"/>
            </a:pPr>
            <a:r>
              <a:rPr lang="en-US" sz="1500" dirty="0">
                <a:solidFill>
                  <a:schemeClr val="tx1"/>
                </a:solidFill>
              </a:rPr>
              <a:t>Keep every label to three words or fewer</a:t>
            </a:r>
            <a:endParaRPr lang="en-US" sz="1500" dirty="0"/>
          </a:p>
          <a:p>
            <a:pPr marL="342900" indent="-342900">
              <a:spcAft>
                <a:spcPts val="600"/>
              </a:spcAft>
              <a:buSzPct val="100000"/>
              <a:buChar char="•"/>
            </a:pPr>
            <a:r>
              <a:rPr lang="en-US" sz="1500" dirty="0">
                <a:solidFill>
                  <a:schemeClr val="tx1"/>
                </a:solidFill>
              </a:rPr>
              <a:t>Laminate, then add Velcro</a:t>
            </a:r>
            <a:endParaRPr lang="en-US" sz="1500" dirty="0"/>
          </a:p>
        </p:txBody>
      </p:sp>
      <p:sp>
        <p:nvSpPr>
          <p:cNvPr id="12" name="Text 10"/>
          <p:cNvSpPr txBox="1"/>
          <p:nvPr/>
        </p:nvSpPr>
        <p:spPr>
          <a:xfrm>
            <a:off x="6675120" y="4343400"/>
            <a:ext cx="2377440" cy="731520"/>
          </a:xfrm>
          <a:prstGeom prst="rect">
            <a:avLst/>
          </a:prstGeom>
          <a:noFill/>
          <a:ln/>
        </p:spPr>
        <p:txBody>
          <a:bodyPr wrap="square" lIns="0" tIns="0" rIns="0" bIns="0" rtlCol="0" anchor="ctr"/>
          <a:lstStyle/>
          <a:p>
            <a:pPr indent="0" marL="0">
              <a:buNone/>
            </a:pPr>
            <a:r>
              <a:rPr lang="en-US" sz="4000" b="1" dirty="0">
                <a:solidFill>
                  <a:srgbClr val="A8600C"/>
                </a:solidFill>
              </a:rPr>
              <a:t>40 minutes</a:t>
            </a:r>
            <a:endParaRPr lang="en-US" sz="4000" dirty="0"/>
          </a:p>
        </p:txBody>
      </p:sp>
      <p:sp>
        <p:nvSpPr>
          <p:cNvPr id="13" name="Text 11"/>
          <p:cNvSpPr txBox="1"/>
          <p:nvPr/>
        </p:nvSpPr>
        <p:spPr>
          <a:xfrm>
            <a:off x="9052560" y="4434840"/>
            <a:ext cx="2286000" cy="731520"/>
          </a:xfrm>
          <a:prstGeom prst="rect">
            <a:avLst/>
          </a:prstGeom>
          <a:noFill/>
          <a:ln/>
        </p:spPr>
        <p:txBody>
          <a:bodyPr wrap="square" lIns="0" tIns="0" rIns="0" bIns="0" rtlCol="0" anchor="ctr"/>
          <a:lstStyle/>
          <a:p>
            <a:pPr indent="0" marL="0">
              <a:buNone/>
            </a:pPr>
            <a:r>
              <a:rPr lang="en-US" sz="1300" dirty="0">
                <a:solidFill>
                  <a:srgbClr val="4C5C57"/>
                </a:solidFill>
              </a:rPr>
              <a:t>and the morning you needed it</a:t>
            </a:r>
            <a:endParaRPr lang="en-US" sz="1300" dirty="0"/>
          </a:p>
          <a:p>
            <a:pPr indent="0" marL="0">
              <a:buNone/>
            </a:pPr>
            <a:r>
              <a:rPr lang="en-US" sz="1300" dirty="0">
                <a:solidFill>
                  <a:srgbClr val="4C5C57"/>
                </a:solidFill>
              </a:rPr>
              <a:t>was this morning</a:t>
            </a:r>
            <a:endParaRPr lang="en-US" sz="1300" dirty="0"/>
          </a:p>
        </p:txBody>
      </p:sp>
      <p:sp>
        <p:nvSpPr>
          <p:cNvPr id="25" name="Slide Number Placeholder 0"/>
          <p:cNvSpPr>
            <a:spLocks noGrp="1"/>
          </p:cNvSpPr>
          <p:nvPr>
            <p:ph type="sldNum" sz="quarter" idx="4294967295"/>
          </p:nvPr>
        </p:nvSpPr>
        <p:spPr>
          <a:xfrm>
            <a:off x="115214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A4C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1371600"/>
            <a:ext cx="10515600" cy="2926080"/>
          </a:xfrm>
          <a:prstGeom prst="rect">
            <a:avLst/>
          </a:prstGeom>
          <a:noFill/>
          <a:ln/>
        </p:spPr>
        <p:txBody>
          <a:bodyPr wrap="square" rtlCol="0"/>
          <a:lstStyle/>
          <a:p>
            <a:pPr indent="0" marL="0">
              <a:buNone/>
            </a:pPr>
            <a:r>
              <a:rPr lang="en-US" sz="3200" i="1" dirty="0">
                <a:solidFill>
                  <a:schemeClr val="tx1"/>
                </a:solidFill>
              </a:rPr>
              <a:t>“You must give them the reinforcing activity or item after they complete the ‘first’ task. Otherwise, your child may not trust the board the next time you use it.”</a:t>
            </a:r>
            <a:endParaRPr lang="en-US" sz="3200" dirty="0"/>
          </a:p>
        </p:txBody>
      </p:sp>
      <p:sp>
        <p:nvSpPr>
          <p:cNvPr id="3" name="Text 0"/>
          <p:cNvSpPr/>
          <p:nvPr>
            <p:ph idx="101" type="body" hasCustomPrompt="1"/>
          </p:nvPr>
        </p:nvSpPr>
        <p:spPr>
          <a:xfrm>
            <a:off x="822960" y="4572000"/>
            <a:ext cx="10515600" cy="822960"/>
          </a:xfrm>
          <a:prstGeom prst="rect">
            <a:avLst/>
          </a:prstGeom>
          <a:noFill/>
          <a:ln/>
        </p:spPr>
        <p:txBody>
          <a:bodyPr wrap="square" rtlCol="0"/>
          <a:lstStyle/>
          <a:p>
            <a:pPr indent="0" marL="0">
              <a:buNone/>
            </a:pPr>
            <a:r>
              <a:rPr lang="en-US" sz="1500" dirty="0">
                <a:solidFill>
                  <a:srgbClr val="2E7CB8"/>
                </a:solidFill>
              </a:rPr>
              <a:t>Vanderbilt Kennedy Center TRIAD / Autism Speaks ATN — Visual Supports and Autism (2011)</a:t>
            </a:r>
            <a:endParaRPr lang="en-US" sz="1500" dirty="0"/>
          </a:p>
        </p:txBody>
      </p:sp>
      <p:sp>
        <p:nvSpPr>
          <p:cNvPr id="4" name="sting"/>
          <p:cNvSpPr/>
          <p:nvPr/>
        </p:nvSpPr>
        <p:spPr>
          <a:xfrm>
            <a:off x="822960" y="5257800"/>
            <a:ext cx="10515600" cy="777240"/>
          </a:xfrm>
          <a:prstGeom prst="roundRect">
            <a:avLst>
              <a:gd name="adj" fmla="val 11765"/>
            </a:avLst>
          </a:prstGeom>
          <a:solidFill>
            <a:srgbClr val="F28B82"/>
          </a:solidFill>
          <a:ln/>
        </p:spPr>
      </p:sp>
      <p:sp>
        <p:nvSpPr>
          <p:cNvPr id="5" name="Text 3"/>
          <p:cNvSpPr txBox="1"/>
          <p:nvPr/>
        </p:nvSpPr>
        <p:spPr>
          <a:xfrm>
            <a:off x="822960" y="5257800"/>
            <a:ext cx="10515600" cy="777240"/>
          </a:xfrm>
          <a:prstGeom prst="rect">
            <a:avLst/>
          </a:prstGeom>
          <a:noFill/>
          <a:ln/>
        </p:spPr>
        <p:txBody>
          <a:bodyPr wrap="square" lIns="0" tIns="0" rIns="0" bIns="0" rtlCol="0" anchor="ctr"/>
          <a:lstStyle/>
          <a:p>
            <a:pPr algn="ctr" indent="0" marL="0">
              <a:buNone/>
            </a:pPr>
            <a:r>
              <a:rPr lang="en-US" sz="1700" b="1" dirty="0">
                <a:solidFill>
                  <a:srgbClr val="FFFFFF"/>
                </a:solidFill>
              </a:rPr>
              <a:t>A board the child has stopped trusting is worse than no board. The next one starts from suspicion.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3200" b="1" dirty="0">
                <a:solidFill>
                  <a:schemeClr val="tx1"/>
                </a:solidFill>
              </a:rPr>
              <a:t>Three questions in. Three things out</a:t>
            </a:r>
            <a:endParaRPr lang="en-US" sz="3200" dirty="0"/>
          </a:p>
        </p:txBody>
      </p:sp>
      <p:sp>
        <p:nvSpPr>
          <p:cNvPr id="3" name="Text 1"/>
          <p:cNvSpPr txBox="1"/>
          <p:nvPr/>
        </p:nvSpPr>
        <p:spPr>
          <a:xfrm>
            <a:off x="548640" y="1417320"/>
            <a:ext cx="11064240" cy="868680"/>
          </a:xfrm>
          <a:prstGeom prst="rect">
            <a:avLst/>
          </a:prstGeom>
          <a:noFill/>
          <a:ln/>
        </p:spPr>
        <p:txBody>
          <a:bodyPr wrap="square" lIns="0" tIns="0" rIns="0" bIns="0" rtlCol="0" anchor="ctr"/>
          <a:lstStyle/>
          <a:p>
            <a:pPr indent="0" marL="0">
              <a:buNone/>
            </a:pPr>
            <a:r>
              <a:rPr lang="en-US" sz="1500" dirty="0">
                <a:solidFill>
                  <a:srgbClr val="4C5C57"/>
                </a:solidFill>
              </a:rPr>
              <a:t>The child’s profile — age, reading level, photos or icons, special interests, sensory triggers — is filled in once and reused forever. Every later board is three questions: which routine, what is hard about it, what the child actually wants afterwards.</a:t>
            </a:r>
            <a:endParaRPr lang="en-US" sz="1500" dirty="0"/>
          </a:p>
        </p:txBody>
      </p:sp>
      <p:sp>
        <p:nvSpPr>
          <p:cNvPr id="4" name="n-1"/>
          <p:cNvSpPr/>
          <p:nvPr/>
        </p:nvSpPr>
        <p:spPr>
          <a:xfrm>
            <a:off x="548640" y="2606040"/>
            <a:ext cx="566928" cy="566928"/>
          </a:xfrm>
          <a:prstGeom prst="ellipse">
            <a:avLst/>
          </a:prstGeom>
          <a:solidFill>
            <a:srgbClr val="2E7CB8"/>
          </a:solidFill>
          <a:ln/>
        </p:spPr>
      </p:sp>
      <p:sp>
        <p:nvSpPr>
          <p:cNvPr id="5" name="Text 3"/>
          <p:cNvSpPr txBox="1"/>
          <p:nvPr/>
        </p:nvSpPr>
        <p:spPr>
          <a:xfrm>
            <a:off x="548640"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4"/>
          <p:cNvSpPr txBox="1"/>
          <p:nvPr/>
        </p:nvSpPr>
        <p:spPr>
          <a:xfrm>
            <a:off x="1371600" y="2587752"/>
            <a:ext cx="10241280" cy="347472"/>
          </a:xfrm>
          <a:prstGeom prst="rect">
            <a:avLst/>
          </a:prstGeom>
          <a:noFill/>
          <a:ln/>
        </p:spPr>
        <p:txBody>
          <a:bodyPr wrap="square" lIns="0" tIns="0" rIns="0" bIns="0" rtlCol="0" anchor="ctr"/>
          <a:lstStyle/>
          <a:p>
            <a:pPr indent="0" marL="0">
              <a:buNone/>
            </a:pPr>
            <a:r>
              <a:rPr lang="en-US" sz="1800" b="1" dirty="0">
                <a:solidFill>
                  <a:schemeClr val="tx1"/>
                </a:solidFill>
              </a:rPr>
              <a:t>The cards</a:t>
            </a:r>
            <a:endParaRPr lang="en-US" sz="1800" dirty="0"/>
          </a:p>
        </p:txBody>
      </p:sp>
      <p:sp>
        <p:nvSpPr>
          <p:cNvPr id="7" name="Text 5"/>
          <p:cNvSpPr txBox="1"/>
          <p:nvPr/>
        </p:nvSpPr>
        <p:spPr>
          <a:xfrm>
            <a:off x="1371600" y="2935224"/>
            <a:ext cx="10241280" cy="658368"/>
          </a:xfrm>
          <a:prstGeom prst="rect">
            <a:avLst/>
          </a:prstGeom>
          <a:noFill/>
          <a:ln/>
        </p:spPr>
        <p:txBody>
          <a:bodyPr wrap="square" lIns="0" tIns="0" rIns="0" bIns="0" rtlCol="0" anchor="ctr"/>
          <a:lstStyle/>
          <a:p>
            <a:pPr indent="0" marL="0">
              <a:buNone/>
            </a:pPr>
            <a:r>
              <a:rPr lang="en-US" sz="1400" dirty="0">
                <a:solidFill>
                  <a:srgbClr val="4C5C57"/>
                </a:solidFill>
              </a:rPr>
              <a:t>Three words maximum. Phrased positively — “Walk in hallway”, never “Don’t run”. Printable with cut lines for lamination, or full-screen on a tablet.</a:t>
            </a:r>
            <a:endParaRPr lang="en-US" sz="1400" dirty="0"/>
          </a:p>
        </p:txBody>
      </p:sp>
      <p:sp>
        <p:nvSpPr>
          <p:cNvPr id="8" name="n-2"/>
          <p:cNvSpPr/>
          <p:nvPr/>
        </p:nvSpPr>
        <p:spPr>
          <a:xfrm>
            <a:off x="548640" y="3794760"/>
            <a:ext cx="566928" cy="566928"/>
          </a:xfrm>
          <a:prstGeom prst="ellipse">
            <a:avLst/>
          </a:prstGeom>
          <a:solidFill>
            <a:srgbClr val="6BBF8E"/>
          </a:solidFill>
          <a:ln/>
        </p:spPr>
      </p:sp>
      <p:sp>
        <p:nvSpPr>
          <p:cNvPr id="9" name="Text 7"/>
          <p:cNvSpPr txBox="1"/>
          <p:nvPr/>
        </p:nvSpPr>
        <p:spPr>
          <a:xfrm>
            <a:off x="548640" y="37947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0" name="Text 8"/>
          <p:cNvSpPr txBox="1"/>
          <p:nvPr/>
        </p:nvSpPr>
        <p:spPr>
          <a:xfrm>
            <a:off x="1371600" y="3776472"/>
            <a:ext cx="10241280" cy="347472"/>
          </a:xfrm>
          <a:prstGeom prst="rect">
            <a:avLst/>
          </a:prstGeom>
          <a:noFill/>
          <a:ln/>
        </p:spPr>
        <p:txBody>
          <a:bodyPr wrap="square" lIns="0" tIns="0" rIns="0" bIns="0" rtlCol="0" anchor="ctr"/>
          <a:lstStyle/>
          <a:p>
            <a:pPr indent="0" marL="0">
              <a:buNone/>
            </a:pPr>
            <a:r>
              <a:rPr lang="en-US" sz="1800" b="1" dirty="0">
                <a:solidFill>
                  <a:schemeClr val="tx1"/>
                </a:solidFill>
              </a:rPr>
              <a:t>The caregiver script</a:t>
            </a:r>
            <a:endParaRPr lang="en-US" sz="1800" dirty="0"/>
          </a:p>
        </p:txBody>
      </p:sp>
      <p:sp>
        <p:nvSpPr>
          <p:cNvPr id="11" name="Text 9"/>
          <p:cNvSpPr txBox="1"/>
          <p:nvPr/>
        </p:nvSpPr>
        <p:spPr>
          <a:xfrm>
            <a:off x="1371600" y="4123944"/>
            <a:ext cx="10241280" cy="658368"/>
          </a:xfrm>
          <a:prstGeom prst="rect">
            <a:avLst/>
          </a:prstGeom>
          <a:noFill/>
          <a:ln/>
        </p:spPr>
        <p:txBody>
          <a:bodyPr wrap="square" lIns="0" tIns="0" rIns="0" bIns="0" rtlCol="0" anchor="ctr"/>
          <a:lstStyle/>
          <a:p>
            <a:pPr indent="0" marL="0">
              <a:buNone/>
            </a:pPr>
            <a:r>
              <a:rPr lang="en-US" sz="1400" dirty="0">
                <a:solidFill>
                  <a:srgbClr val="4C5C57"/>
                </a:solidFill>
              </a:rPr>
              <a:t>The one or two low-demand phrases to say out loud. “First shoes, then swing.” Then “All done shoes. Now swing!” Most tools stop at the picture. The words are what parents fumble.</a:t>
            </a:r>
            <a:endParaRPr lang="en-US" sz="1400" dirty="0"/>
          </a:p>
        </p:txBody>
      </p:sp>
      <p:sp>
        <p:nvSpPr>
          <p:cNvPr id="12" name="n-3"/>
          <p:cNvSpPr/>
          <p:nvPr/>
        </p:nvSpPr>
        <p:spPr>
          <a:xfrm>
            <a:off x="548640" y="4983480"/>
            <a:ext cx="566928" cy="566928"/>
          </a:xfrm>
          <a:prstGeom prst="ellipse">
            <a:avLst/>
          </a:prstGeom>
          <a:solidFill>
            <a:srgbClr val="F9C74F"/>
          </a:solidFill>
          <a:ln/>
        </p:spPr>
      </p:sp>
      <p:sp>
        <p:nvSpPr>
          <p:cNvPr id="13" name="Text 11"/>
          <p:cNvSpPr txBox="1"/>
          <p:nvPr/>
        </p:nvSpPr>
        <p:spPr>
          <a:xfrm>
            <a:off x="548640" y="4983480"/>
            <a:ext cx="566928" cy="566928"/>
          </a:xfrm>
          <a:prstGeom prst="rect">
            <a:avLst/>
          </a:prstGeom>
          <a:noFill/>
          <a:ln/>
        </p:spPr>
        <p:txBody>
          <a:bodyPr wrap="square" lIns="0" tIns="0" rIns="0" bIns="0" rtlCol="0" anchor="ctr"/>
          <a:lstStyle/>
          <a:p>
            <a:pPr algn="ctr" indent="0" marL="0">
              <a:buNone/>
            </a:pPr>
            <a:r>
              <a:rPr lang="en-US" sz="2000" b="1" dirty="0">
                <a:solidFill>
                  <a:srgbClr val="2D3748"/>
                </a:solidFill>
              </a:rPr>
              <a:t>3</a:t>
            </a:r>
            <a:endParaRPr lang="en-US" sz="2000" dirty="0"/>
          </a:p>
        </p:txBody>
      </p:sp>
      <p:sp>
        <p:nvSpPr>
          <p:cNvPr id="14" name="Text 12"/>
          <p:cNvSpPr txBox="1"/>
          <p:nvPr/>
        </p:nvSpPr>
        <p:spPr>
          <a:xfrm>
            <a:off x="1371600" y="4965192"/>
            <a:ext cx="10241280" cy="347472"/>
          </a:xfrm>
          <a:prstGeom prst="rect">
            <a:avLst/>
          </a:prstGeom>
          <a:noFill/>
          <a:ln/>
        </p:spPr>
        <p:txBody>
          <a:bodyPr wrap="square" lIns="0" tIns="0" rIns="0" bIns="0" rtlCol="0" anchor="ctr"/>
          <a:lstStyle/>
          <a:p>
            <a:pPr indent="0" marL="0">
              <a:buNone/>
            </a:pPr>
            <a:r>
              <a:rPr lang="en-US" sz="1800" b="1" dirty="0">
                <a:solidFill>
                  <a:schemeClr val="tx1"/>
                </a:solidFill>
              </a:rPr>
              <a:t>The implementation plan</a:t>
            </a:r>
            <a:endParaRPr lang="en-US" sz="1800" dirty="0"/>
          </a:p>
        </p:txBody>
      </p:sp>
      <p:sp>
        <p:nvSpPr>
          <p:cNvPr id="15" name="Text 13"/>
          <p:cNvSpPr txBox="1"/>
          <p:nvPr/>
        </p:nvSpPr>
        <p:spPr>
          <a:xfrm>
            <a:off x="1371600" y="5312664"/>
            <a:ext cx="10241280" cy="658368"/>
          </a:xfrm>
          <a:prstGeom prst="rect">
            <a:avLst/>
          </a:prstGeom>
          <a:noFill/>
          <a:ln/>
        </p:spPr>
        <p:txBody>
          <a:bodyPr wrap="square" lIns="0" tIns="0" rIns="0" bIns="0" rtlCol="0" anchor="ctr"/>
          <a:lstStyle/>
          <a:p>
            <a:pPr indent="0" marL="0">
              <a:buNone/>
            </a:pPr>
            <a:r>
              <a:rPr lang="en-US" sz="1400" dirty="0">
                <a:solidFill>
                  <a:srgbClr val="4C5C57"/>
                </a:solidFill>
              </a:rPr>
              <a:t>Where to put the board, the prompt hierarchy from least to most intrusive, and what to do when it goes wrong.</a:t>
            </a:r>
            <a:endParaRPr lang="en-US" sz="1400" dirty="0"/>
          </a:p>
        </p:txBody>
      </p:sp>
      <p:sp>
        <p:nvSpPr>
          <p:cNvPr id="25" name="Slide Number Placeholder 0"/>
          <p:cNvSpPr>
            <a:spLocks noGrp="1"/>
          </p:cNvSpPr>
          <p:nvPr>
            <p:ph type="sldNum" sz="quarter" idx="4294967295"/>
          </p:nvPr>
        </p:nvSpPr>
        <p:spPr>
          <a:xfrm>
            <a:off x="115214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A4C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3200" b="1" dirty="0">
                <a:solidFill>
                  <a:schemeClr val="tx1"/>
                </a:solidFill>
              </a:rPr>
              <a:t>The loop nobody else closes</a:t>
            </a:r>
            <a:endParaRPr lang="en-US" sz="3200" dirty="0"/>
          </a:p>
        </p:txBody>
      </p:sp>
      <p:pic>
        <p:nvPicPr>
          <p:cNvPr id="3" name="sms" descr="/mnt/c/users/ajaro/claude/resume/hackathon-future/assets/deck-sms.png">    </p:cNvPr>
          <p:cNvPicPr>
            <a:picLocks noChangeAspect="1"/>
          </p:cNvPicPr>
          <p:nvPr/>
        </p:nvPicPr>
        <p:blipFill>
          <a:blip r:embed="rId1"/>
          <a:stretch>
            <a:fillRect/>
          </a:stretch>
        </p:blipFill>
        <p:spPr>
          <a:xfrm>
            <a:off x="822960" y="1371600"/>
            <a:ext cx="3264408" cy="4059936"/>
          </a:xfrm>
          <a:prstGeom prst="rect">
            <a:avLst/>
          </a:prstGeom>
        </p:spPr>
      </p:pic>
      <p:sp>
        <p:nvSpPr>
          <p:cNvPr id="4" name="Text 1"/>
          <p:cNvSpPr txBox="1"/>
          <p:nvPr/>
        </p:nvSpPr>
        <p:spPr>
          <a:xfrm>
            <a:off x="4663440" y="1463040"/>
            <a:ext cx="6949440" cy="777240"/>
          </a:xfrm>
          <a:prstGeom prst="rect">
            <a:avLst/>
          </a:prstGeom>
          <a:noFill/>
          <a:ln/>
        </p:spPr>
        <p:txBody>
          <a:bodyPr wrap="square" lIns="0" tIns="0" rIns="0" bIns="0" rtlCol="0" anchor="ctr"/>
          <a:lstStyle/>
          <a:p>
            <a:pPr indent="0" marL="0">
              <a:buNone/>
            </a:pPr>
            <a:r>
              <a:rPr lang="en-US" sz="1800" dirty="0">
                <a:solidFill>
                  <a:schemeClr val="tx1"/>
                </a:solidFill>
              </a:rPr>
              <a:t>At the moment the routine runs, the parent is at the front door holding a pair of shoes. They are not holding a tablet.</a:t>
            </a:r>
            <a:endParaRPr lang="en-US" sz="1800" dirty="0"/>
          </a:p>
        </p:txBody>
      </p:sp>
      <p:sp>
        <p:nvSpPr>
          <p:cNvPr id="5" name="card-Twilio carries the script"/>
          <p:cNvSpPr/>
          <p:nvPr/>
        </p:nvSpPr>
        <p:spPr>
          <a:xfrm>
            <a:off x="4663440" y="2423160"/>
            <a:ext cx="6949440" cy="1143000"/>
          </a:xfrm>
          <a:prstGeom prst="roundRect">
            <a:avLst>
              <a:gd name="adj" fmla="val 9600"/>
            </a:avLst>
          </a:prstGeom>
          <a:solidFill>
            <a:srgbClr val="F7FBFF"/>
          </a:solidFill>
          <a:ln w="22225">
            <a:solidFill>
              <a:srgbClr val="2E7CB8"/>
            </a:solidFill>
            <a:prstDash val="solid"/>
          </a:ln>
        </p:spPr>
      </p:sp>
      <p:sp>
        <p:nvSpPr>
          <p:cNvPr id="6" name="Text 3"/>
          <p:cNvSpPr txBox="1"/>
          <p:nvPr/>
        </p:nvSpPr>
        <p:spPr>
          <a:xfrm>
            <a:off x="4937760" y="2651760"/>
            <a:ext cx="6400800" cy="384048"/>
          </a:xfrm>
          <a:prstGeom prst="rect">
            <a:avLst/>
          </a:prstGeom>
          <a:noFill/>
          <a:ln/>
        </p:spPr>
        <p:txBody>
          <a:bodyPr wrap="square" lIns="0" tIns="0" rIns="0" bIns="0" rtlCol="0" anchor="ctr"/>
          <a:lstStyle/>
          <a:p>
            <a:pPr indent="0" marL="0">
              <a:buNone/>
            </a:pPr>
            <a:r>
              <a:rPr lang="en-US" sz="1800" b="1" dirty="0">
                <a:solidFill>
                  <a:srgbClr val="2E7CB8"/>
                </a:solidFill>
              </a:rPr>
              <a:t>Twilio carries the script</a:t>
            </a:r>
            <a:endParaRPr lang="en-US" sz="1800" dirty="0"/>
          </a:p>
        </p:txBody>
      </p:sp>
      <p:sp>
        <p:nvSpPr>
          <p:cNvPr id="7" name="Text 4"/>
          <p:cNvSpPr txBox="1"/>
          <p:nvPr/>
        </p:nvSpPr>
        <p:spPr>
          <a:xfrm>
            <a:off x="4937760" y="3108960"/>
            <a:ext cx="6400800" cy="182880"/>
          </a:xfrm>
          <a:prstGeom prst="rect">
            <a:avLst/>
          </a:prstGeom>
          <a:noFill/>
          <a:ln/>
        </p:spPr>
        <p:txBody>
          <a:bodyPr wrap="square" lIns="0" tIns="0" rIns="0" bIns="0" rtlCol="0" anchor="t"/>
          <a:lstStyle/>
          <a:p>
            <a:pPr indent="0" marL="0">
              <a:buNone/>
            </a:pPr>
            <a:r>
              <a:rPr lang="en-US" sz="1400" dirty="0">
                <a:solidFill>
                  <a:schemeClr val="tx1"/>
                </a:solidFill>
              </a:rPr>
              <a:t>The caregiver phrase arrives by SMS when the routine is due — the only channel that reaches a parent mid-morning.</a:t>
            </a:r>
            <a:endParaRPr lang="en-US" sz="1400" dirty="0"/>
          </a:p>
        </p:txBody>
      </p:sp>
      <p:sp>
        <p:nvSpPr>
          <p:cNvPr id="8" name="card-And asks one question after"/>
          <p:cNvSpPr/>
          <p:nvPr/>
        </p:nvSpPr>
        <p:spPr>
          <a:xfrm>
            <a:off x="4663440" y="3749040"/>
            <a:ext cx="6949440" cy="1143000"/>
          </a:xfrm>
          <a:prstGeom prst="roundRect">
            <a:avLst>
              <a:gd name="adj" fmla="val 9600"/>
            </a:avLst>
          </a:prstGeom>
          <a:solidFill>
            <a:srgbClr val="F7FBFF"/>
          </a:solidFill>
          <a:ln w="22225">
            <a:solidFill>
              <a:srgbClr val="6BBF8E"/>
            </a:solidFill>
            <a:prstDash val="solid"/>
          </a:ln>
        </p:spPr>
      </p:sp>
      <p:sp>
        <p:nvSpPr>
          <p:cNvPr id="9" name="Text 6"/>
          <p:cNvSpPr txBox="1"/>
          <p:nvPr/>
        </p:nvSpPr>
        <p:spPr>
          <a:xfrm>
            <a:off x="4937760" y="3977640"/>
            <a:ext cx="6400800" cy="384048"/>
          </a:xfrm>
          <a:prstGeom prst="rect">
            <a:avLst/>
          </a:prstGeom>
          <a:noFill/>
          <a:ln/>
        </p:spPr>
        <p:txBody>
          <a:bodyPr wrap="square" lIns="0" tIns="0" rIns="0" bIns="0" rtlCol="0" anchor="ctr"/>
          <a:lstStyle/>
          <a:p>
            <a:pPr indent="0" marL="0">
              <a:buNone/>
            </a:pPr>
            <a:r>
              <a:rPr lang="en-US" sz="1800" b="1" dirty="0">
                <a:solidFill>
                  <a:srgbClr val="6BBF8E"/>
                </a:solidFill>
              </a:rPr>
              <a:t>And asks one question after</a:t>
            </a:r>
            <a:endParaRPr lang="en-US" sz="1800" dirty="0"/>
          </a:p>
        </p:txBody>
      </p:sp>
      <p:sp>
        <p:nvSpPr>
          <p:cNvPr id="10" name="Text 7"/>
          <p:cNvSpPr txBox="1"/>
          <p:nvPr/>
        </p:nvSpPr>
        <p:spPr>
          <a:xfrm>
            <a:off x="4937760" y="4434840"/>
            <a:ext cx="6400800" cy="182880"/>
          </a:xfrm>
          <a:prstGeom prst="rect">
            <a:avLst/>
          </a:prstGeom>
          <a:noFill/>
          <a:ln/>
        </p:spPr>
        <p:txBody>
          <a:bodyPr wrap="square" lIns="0" tIns="0" rIns="0" bIns="0" rtlCol="0" anchor="t"/>
          <a:lstStyle/>
          <a:p>
            <a:pPr indent="0" marL="0">
              <a:buNone/>
            </a:pPr>
            <a:r>
              <a:rPr lang="en-US" sz="1400" dirty="0">
                <a:solidFill>
                  <a:schemeClr val="tx1"/>
                </a:solidFill>
              </a:rPr>
              <a:t>“Did the swing happen? Reply Y or N.” One character writes the field the whole method depends on.</a:t>
            </a:r>
            <a:endParaRPr lang="en-US" sz="1400" dirty="0"/>
          </a:p>
        </p:txBody>
      </p:sp>
      <p:sp>
        <p:nvSpPr>
          <p:cNvPr id="11" name="kicker"/>
          <p:cNvSpPr/>
          <p:nvPr/>
        </p:nvSpPr>
        <p:spPr>
          <a:xfrm>
            <a:off x="4663440" y="5074920"/>
            <a:ext cx="6949440" cy="868680"/>
          </a:xfrm>
          <a:prstGeom prst="roundRect">
            <a:avLst>
              <a:gd name="adj" fmla="val 10526"/>
            </a:avLst>
          </a:prstGeom>
          <a:solidFill>
            <a:srgbClr val="0B1E3D"/>
          </a:solidFill>
          <a:ln/>
        </p:spPr>
      </p:sp>
      <p:sp>
        <p:nvSpPr>
          <p:cNvPr id="12" name="Text 9"/>
          <p:cNvSpPr txBox="1"/>
          <p:nvPr/>
        </p:nvSpPr>
        <p:spPr>
          <a:xfrm>
            <a:off x="4846320" y="5074920"/>
            <a:ext cx="6583680" cy="868680"/>
          </a:xfrm>
          <a:prstGeom prst="rect">
            <a:avLst/>
          </a:prstGeom>
          <a:noFill/>
          <a:ln/>
        </p:spPr>
        <p:txBody>
          <a:bodyPr wrap="square" lIns="0" tIns="0" rIns="0" bIns="0" rtlCol="0" anchor="ctr"/>
          <a:lstStyle/>
          <a:p>
            <a:pPr indent="0" marL="0">
              <a:buNone/>
            </a:pPr>
            <a:r>
              <a:rPr lang="en-US" sz="1500" b="1" dirty="0">
                <a:solidFill>
                  <a:srgbClr val="F9C74F"/>
                </a:solidFill>
              </a:rPr>
              <a:t>The home screen shows how reliably the promise has been kept — not how many boards you have made.</a:t>
            </a:r>
            <a:endParaRPr lang="en-US" sz="1500" dirty="0"/>
          </a:p>
        </p:txBody>
      </p:sp>
      <p:sp>
        <p:nvSpPr>
          <p:cNvPr id="25" name="Slide Number Placeholder 0"/>
          <p:cNvSpPr>
            <a:spLocks noGrp="1"/>
          </p:cNvSpPr>
          <p:nvPr>
            <p:ph type="sldNum" sz="quarter" idx="4294967295"/>
          </p:nvPr>
        </p:nvSpPr>
        <p:spPr>
          <a:xfrm>
            <a:off x="115214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A4C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3200" b="1" dirty="0">
                <a:solidFill>
                  <a:schemeClr val="tx1"/>
                </a:solidFill>
              </a:rPr>
              <a:t>Next: social stories</a:t>
            </a:r>
            <a:endParaRPr lang="en-US" sz="3200" dirty="0"/>
          </a:p>
        </p:txBody>
      </p:sp>
      <p:pic>
        <p:nvPicPr>
          <p:cNvPr id="3" name="scene" descr="/mnt/c/users/ajaro/claude/resume/hackathon-future/assets/scene-reading-tree.png">    </p:cNvPr>
          <p:cNvPicPr>
            <a:picLocks noChangeAspect="1"/>
          </p:cNvPicPr>
          <p:nvPr/>
        </p:nvPicPr>
        <p:blipFill>
          <a:blip r:embed="rId1"/>
          <a:stretch>
            <a:fillRect/>
          </a:stretch>
        </p:blipFill>
        <p:spPr>
          <a:xfrm>
            <a:off x="5943600" y="1417320"/>
            <a:ext cx="5669280" cy="3236976"/>
          </a:xfrm>
          <a:prstGeom prst="rect">
            <a:avLst/>
          </a:prstGeom>
        </p:spPr>
      </p:pic>
      <p:sp>
        <p:nvSpPr>
          <p:cNvPr id="4" name="Text 1"/>
          <p:cNvSpPr txBox="1"/>
          <p:nvPr/>
        </p:nvSpPr>
        <p:spPr>
          <a:xfrm>
            <a:off x="548640" y="1463040"/>
            <a:ext cx="5120640" cy="1371600"/>
          </a:xfrm>
          <a:prstGeom prst="rect">
            <a:avLst/>
          </a:prstGeom>
          <a:noFill/>
          <a:ln/>
        </p:spPr>
        <p:txBody>
          <a:bodyPr wrap="square" lIns="0" tIns="0" rIns="0" bIns="0" rtlCol="0" anchor="ctr"/>
          <a:lstStyle/>
          <a:p>
            <a:pPr indent="0" marL="0">
              <a:buNone/>
            </a:pPr>
            <a:r>
              <a:rPr lang="en-US" sz="1600" dirty="0">
                <a:solidFill>
                  <a:schemeClr val="tx1"/>
                </a:solidFill>
              </a:rPr>
              <a:t>Not in the seven-day build — but it is the next support type, and it costs one branch rather than a second app. A First–Then board handles the transition happening now; a social narrative handles what has not happened yet: the dentist, the fire drill, the new classroom.</a:t>
            </a:r>
            <a:endParaRPr lang="en-US" sz="1600" dirty="0"/>
          </a:p>
        </p:txBody>
      </p:sp>
      <p:sp>
        <p:nvSpPr>
          <p:cNvPr id="5" name="card-Same three-part output"/>
          <p:cNvSpPr/>
          <p:nvPr/>
        </p:nvSpPr>
        <p:spPr>
          <a:xfrm>
            <a:off x="548640" y="2971800"/>
            <a:ext cx="5120640" cy="1234440"/>
          </a:xfrm>
          <a:prstGeom prst="roundRect">
            <a:avLst>
              <a:gd name="adj" fmla="val 8889"/>
            </a:avLst>
          </a:prstGeom>
          <a:solidFill>
            <a:srgbClr val="F7FBFF"/>
          </a:solidFill>
          <a:ln w="22225">
            <a:solidFill>
              <a:srgbClr val="2E7CB8"/>
            </a:solidFill>
            <a:prstDash val="solid"/>
          </a:ln>
        </p:spPr>
      </p:sp>
      <p:sp>
        <p:nvSpPr>
          <p:cNvPr id="6" name="Text 3"/>
          <p:cNvSpPr txBox="1"/>
          <p:nvPr/>
        </p:nvSpPr>
        <p:spPr>
          <a:xfrm>
            <a:off x="822960" y="3200400"/>
            <a:ext cx="4572000" cy="384048"/>
          </a:xfrm>
          <a:prstGeom prst="rect">
            <a:avLst/>
          </a:prstGeom>
          <a:noFill/>
          <a:ln/>
        </p:spPr>
        <p:txBody>
          <a:bodyPr wrap="square" lIns="0" tIns="0" rIns="0" bIns="0" rtlCol="0" anchor="ctr"/>
          <a:lstStyle/>
          <a:p>
            <a:pPr indent="0" marL="0">
              <a:buNone/>
            </a:pPr>
            <a:r>
              <a:rPr lang="en-US" sz="1800" b="1" dirty="0">
                <a:solidFill>
                  <a:srgbClr val="2E7CB8"/>
                </a:solidFill>
              </a:rPr>
              <a:t>Same three-part output</a:t>
            </a:r>
            <a:endParaRPr lang="en-US" sz="1800" dirty="0"/>
          </a:p>
        </p:txBody>
      </p:sp>
      <p:sp>
        <p:nvSpPr>
          <p:cNvPr id="7" name="Text 4"/>
          <p:cNvSpPr txBox="1"/>
          <p:nvPr/>
        </p:nvSpPr>
        <p:spPr>
          <a:xfrm>
            <a:off x="822960" y="3657600"/>
            <a:ext cx="4572000" cy="274320"/>
          </a:xfrm>
          <a:prstGeom prst="rect">
            <a:avLst/>
          </a:prstGeom>
          <a:noFill/>
          <a:ln/>
        </p:spPr>
        <p:txBody>
          <a:bodyPr wrap="square" lIns="0" tIns="0" rIns="0" bIns="0" rtlCol="0" anchor="t"/>
          <a:lstStyle/>
          <a:p>
            <a:pPr indent="0" marL="0">
              <a:buNone/>
            </a:pPr>
            <a:r>
              <a:rPr lang="en-US" sz="1400" dirty="0">
                <a:solidFill>
                  <a:schemeClr val="tx1"/>
                </a:solidFill>
              </a:rPr>
              <a:t>Pictures, the words to say, and the plan — written in the first person, delivered before the event rather than during it.</a:t>
            </a:r>
            <a:endParaRPr lang="en-US" sz="1400" dirty="0"/>
          </a:p>
        </p:txBody>
      </p:sp>
      <p:sp>
        <p:nvSpPr>
          <p:cNvPr id="8" name="card-Same evidence base"/>
          <p:cNvSpPr/>
          <p:nvPr/>
        </p:nvSpPr>
        <p:spPr>
          <a:xfrm>
            <a:off x="548640" y="4389120"/>
            <a:ext cx="5120640" cy="1234440"/>
          </a:xfrm>
          <a:prstGeom prst="roundRect">
            <a:avLst>
              <a:gd name="adj" fmla="val 8889"/>
            </a:avLst>
          </a:prstGeom>
          <a:solidFill>
            <a:srgbClr val="F7FBFF"/>
          </a:solidFill>
          <a:ln w="22225">
            <a:solidFill>
              <a:srgbClr val="006B3C"/>
            </a:solidFill>
            <a:prstDash val="solid"/>
          </a:ln>
        </p:spPr>
      </p:sp>
      <p:sp>
        <p:nvSpPr>
          <p:cNvPr id="9" name="Text 6"/>
          <p:cNvSpPr txBox="1"/>
          <p:nvPr/>
        </p:nvSpPr>
        <p:spPr>
          <a:xfrm>
            <a:off x="822960" y="4617720"/>
            <a:ext cx="4572000" cy="384048"/>
          </a:xfrm>
          <a:prstGeom prst="rect">
            <a:avLst/>
          </a:prstGeom>
          <a:noFill/>
          <a:ln/>
        </p:spPr>
        <p:txBody>
          <a:bodyPr wrap="square" lIns="0" tIns="0" rIns="0" bIns="0" rtlCol="0" anchor="ctr"/>
          <a:lstStyle/>
          <a:p>
            <a:pPr indent="0" marL="0">
              <a:buNone/>
            </a:pPr>
            <a:r>
              <a:rPr lang="en-US" sz="1800" b="1" dirty="0">
                <a:solidFill>
                  <a:srgbClr val="006B3C"/>
                </a:solidFill>
              </a:rPr>
              <a:t>Same evidence base</a:t>
            </a:r>
            <a:endParaRPr lang="en-US" sz="1800" dirty="0"/>
          </a:p>
        </p:txBody>
      </p:sp>
      <p:sp>
        <p:nvSpPr>
          <p:cNvPr id="10" name="Text 7"/>
          <p:cNvSpPr txBox="1"/>
          <p:nvPr/>
        </p:nvSpPr>
        <p:spPr>
          <a:xfrm>
            <a:off x="822960" y="5074920"/>
            <a:ext cx="4572000" cy="274320"/>
          </a:xfrm>
          <a:prstGeom prst="rect">
            <a:avLst/>
          </a:prstGeom>
          <a:noFill/>
          <a:ln/>
        </p:spPr>
        <p:txBody>
          <a:bodyPr wrap="square" lIns="0" tIns="0" rIns="0" bIns="0" rtlCol="0" anchor="t"/>
          <a:lstStyle/>
          <a:p>
            <a:pPr indent="0" marL="0">
              <a:buNone/>
            </a:pPr>
            <a:r>
              <a:rPr lang="en-US" sz="1400" dirty="0">
                <a:solidFill>
                  <a:schemeClr val="tx1"/>
                </a:solidFill>
              </a:rPr>
              <a:t>Story-based Intervention: who, what, when, where and why, answered ahead of time.</a:t>
            </a:r>
            <a:endParaRPr lang="en-US" sz="1400" dirty="0"/>
          </a:p>
        </p:txBody>
      </p:sp>
      <p:sp>
        <p:nvSpPr>
          <p:cNvPr id="11" name="Text 8"/>
          <p:cNvSpPr txBox="1"/>
          <p:nvPr/>
        </p:nvSpPr>
        <p:spPr>
          <a:xfrm>
            <a:off x="5943600" y="4800600"/>
            <a:ext cx="5669280" cy="365760"/>
          </a:xfrm>
          <a:prstGeom prst="rect">
            <a:avLst/>
          </a:prstGeom>
          <a:noFill/>
          <a:ln/>
        </p:spPr>
        <p:txBody>
          <a:bodyPr wrap="square" lIns="0" tIns="0" rIns="0" bIns="0" rtlCol="0" anchor="ctr"/>
          <a:lstStyle/>
          <a:p>
            <a:pPr algn="ctr" indent="0" marL="0">
              <a:buNone/>
            </a:pPr>
            <a:r>
              <a:rPr lang="en-US" sz="1300" i="1" dirty="0">
                <a:solidFill>
                  <a:srgbClr val="718096"/>
                </a:solidFill>
              </a:rPr>
              <a:t>Read in the shade, by the light of the cloud that wrote it.</a:t>
            </a:r>
            <a:endParaRPr lang="en-US" sz="1300" dirty="0"/>
          </a:p>
        </p:txBody>
      </p:sp>
      <p:sp>
        <p:nvSpPr>
          <p:cNvPr id="25" name="Slide Number Placeholder 0"/>
          <p:cNvSpPr>
            <a:spLocks noGrp="1"/>
          </p:cNvSpPr>
          <p:nvPr>
            <p:ph type="sldNum" sz="quarter" idx="4294967295"/>
          </p:nvPr>
        </p:nvSpPr>
        <p:spPr>
          <a:xfrm>
            <a:off x="115214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A4C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3200" b="1" dirty="0">
                <a:solidFill>
                  <a:schemeClr val="tx1"/>
                </a:solidFill>
              </a:rPr>
              <a:t>Agentic AI, not a single prompt</a:t>
            </a:r>
            <a:endParaRPr lang="en-US" sz="3200" dirty="0"/>
          </a:p>
        </p:txBody>
      </p:sp>
      <p:pic>
        <p:nvPicPr>
          <p:cNvPr id="3" name="agents" descr="/mnt/c/users/ajaro/claude/resume/hackathon-future/assets/deck-agents.png">    </p:cNvPr>
          <p:cNvPicPr>
            <a:picLocks noChangeAspect="1"/>
          </p:cNvPicPr>
          <p:nvPr/>
        </p:nvPicPr>
        <p:blipFill>
          <a:blip r:embed="rId1"/>
          <a:stretch>
            <a:fillRect/>
          </a:stretch>
        </p:blipFill>
        <p:spPr>
          <a:xfrm>
            <a:off x="914400" y="1371600"/>
            <a:ext cx="10332720" cy="4270248"/>
          </a:xfrm>
          <a:prstGeom prst="rect">
            <a:avLst/>
          </a:prstGeom>
        </p:spPr>
      </p:pic>
      <p:sp>
        <p:nvSpPr>
          <p:cNvPr id="4" name="Text 1"/>
          <p:cNvSpPr txBox="1"/>
          <p:nvPr/>
        </p:nvSpPr>
        <p:spPr>
          <a:xfrm>
            <a:off x="914400" y="5806440"/>
            <a:ext cx="10332720" cy="411480"/>
          </a:xfrm>
          <a:prstGeom prst="rect">
            <a:avLst/>
          </a:prstGeom>
          <a:noFill/>
          <a:ln/>
        </p:spPr>
        <p:txBody>
          <a:bodyPr wrap="square" lIns="0" tIns="0" rIns="0" bIns="0" rtlCol="0" anchor="ctr"/>
          <a:lstStyle/>
          <a:p>
            <a:pPr algn="ctr" indent="0" marL="0">
              <a:buNone/>
            </a:pPr>
            <a:r>
              <a:rPr lang="en-US" sz="1400" i="1" dirty="0">
                <a:solidFill>
                  <a:srgbClr val="4C5C57"/>
                </a:solidFill>
              </a:rPr>
              <a:t>Each agent has a job small enough to inspect, and Agent Workbench exposes the reasoning path — which makes it demonstrable in five minutes.</a:t>
            </a:r>
            <a:endParaRPr lang="en-US" sz="1400" dirty="0"/>
          </a:p>
        </p:txBody>
      </p:sp>
      <p:sp>
        <p:nvSpPr>
          <p:cNvPr id="25" name="Slide Number Placeholder 0"/>
          <p:cNvSpPr>
            <a:spLocks noGrp="1"/>
          </p:cNvSpPr>
          <p:nvPr>
            <p:ph type="sldNum" sz="quarter" idx="4294967295"/>
          </p:nvPr>
        </p:nvSpPr>
        <p:spPr>
          <a:xfrm>
            <a:off x="115214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A4C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3200" b="1" dirty="0">
                <a:solidFill>
                  <a:schemeClr val="tx1"/>
                </a:solidFill>
              </a:rPr>
              <a:t>Guardrails live in the app, not the prompt</a:t>
            </a:r>
            <a:endParaRPr lang="en-US" sz="3200" dirty="0"/>
          </a:p>
        </p:txBody>
      </p:sp>
      <p:sp>
        <p:nvSpPr>
          <p:cNvPr id="3" name="card-Three words maximum"/>
          <p:cNvSpPr/>
          <p:nvPr/>
        </p:nvSpPr>
        <p:spPr>
          <a:xfrm>
            <a:off x="548640" y="1508760"/>
            <a:ext cx="5394960" cy="1371600"/>
          </a:xfrm>
          <a:prstGeom prst="roundRect">
            <a:avLst>
              <a:gd name="adj" fmla="val 8000"/>
            </a:avLst>
          </a:prstGeom>
          <a:solidFill>
            <a:srgbClr val="F7FBFF"/>
          </a:solidFill>
          <a:ln w="22225">
            <a:solidFill>
              <a:srgbClr val="2E7CB8"/>
            </a:solidFill>
            <a:prstDash val="solid"/>
          </a:ln>
        </p:spPr>
      </p:sp>
      <p:sp>
        <p:nvSpPr>
          <p:cNvPr id="4" name="Text 2"/>
          <p:cNvSpPr txBox="1"/>
          <p:nvPr/>
        </p:nvSpPr>
        <p:spPr>
          <a:xfrm>
            <a:off x="822960" y="1737360"/>
            <a:ext cx="4846320" cy="384048"/>
          </a:xfrm>
          <a:prstGeom prst="rect">
            <a:avLst/>
          </a:prstGeom>
          <a:noFill/>
          <a:ln/>
        </p:spPr>
        <p:txBody>
          <a:bodyPr wrap="square" lIns="0" tIns="0" rIns="0" bIns="0" rtlCol="0" anchor="ctr"/>
          <a:lstStyle/>
          <a:p>
            <a:pPr indent="0" marL="0">
              <a:buNone/>
            </a:pPr>
            <a:r>
              <a:rPr lang="en-US" sz="1800" b="1" dirty="0">
                <a:solidFill>
                  <a:srgbClr val="2E7CB8"/>
                </a:solidFill>
              </a:rPr>
              <a:t>Three words maximum</a:t>
            </a:r>
            <a:endParaRPr lang="en-US" sz="1800" dirty="0"/>
          </a:p>
        </p:txBody>
      </p:sp>
      <p:sp>
        <p:nvSpPr>
          <p:cNvPr id="5" name="Text 3"/>
          <p:cNvSpPr txBox="1"/>
          <p:nvPr/>
        </p:nvSpPr>
        <p:spPr>
          <a:xfrm>
            <a:off x="822960" y="2194560"/>
            <a:ext cx="4846320" cy="411480"/>
          </a:xfrm>
          <a:prstGeom prst="rect">
            <a:avLst/>
          </a:prstGeom>
          <a:noFill/>
          <a:ln/>
        </p:spPr>
        <p:txBody>
          <a:bodyPr wrap="square" lIns="0" tIns="0" rIns="0" bIns="0" rtlCol="0" anchor="t"/>
          <a:lstStyle/>
          <a:p>
            <a:pPr indent="0" marL="0">
              <a:buNone/>
            </a:pPr>
            <a:r>
              <a:rPr lang="en-US" sz="1400" dirty="0">
                <a:solidFill>
                  <a:schemeClr val="tx1"/>
                </a:solidFill>
              </a:rPr>
              <a:t>Rejected and regenerated. The toolkit’s limit, not a style preference.</a:t>
            </a:r>
            <a:endParaRPr lang="en-US" sz="1400" dirty="0"/>
          </a:p>
        </p:txBody>
      </p:sp>
      <p:sp>
        <p:nvSpPr>
          <p:cNvPr id="6" name="card-Positive phrasing only"/>
          <p:cNvSpPr/>
          <p:nvPr/>
        </p:nvSpPr>
        <p:spPr>
          <a:xfrm>
            <a:off x="6263640" y="1508760"/>
            <a:ext cx="5394960" cy="1371600"/>
          </a:xfrm>
          <a:prstGeom prst="roundRect">
            <a:avLst>
              <a:gd name="adj" fmla="val 8000"/>
            </a:avLst>
          </a:prstGeom>
          <a:solidFill>
            <a:srgbClr val="F7FBFF"/>
          </a:solidFill>
          <a:ln w="22225">
            <a:solidFill>
              <a:srgbClr val="6BBF8E"/>
            </a:solidFill>
            <a:prstDash val="solid"/>
          </a:ln>
        </p:spPr>
      </p:sp>
      <p:sp>
        <p:nvSpPr>
          <p:cNvPr id="7" name="Text 5"/>
          <p:cNvSpPr txBox="1"/>
          <p:nvPr/>
        </p:nvSpPr>
        <p:spPr>
          <a:xfrm>
            <a:off x="6537960" y="1737360"/>
            <a:ext cx="4846320" cy="384048"/>
          </a:xfrm>
          <a:prstGeom prst="rect">
            <a:avLst/>
          </a:prstGeom>
          <a:noFill/>
          <a:ln/>
        </p:spPr>
        <p:txBody>
          <a:bodyPr wrap="square" lIns="0" tIns="0" rIns="0" bIns="0" rtlCol="0" anchor="ctr"/>
          <a:lstStyle/>
          <a:p>
            <a:pPr indent="0" marL="0">
              <a:buNone/>
            </a:pPr>
            <a:r>
              <a:rPr lang="en-US" sz="1800" b="1" dirty="0">
                <a:solidFill>
                  <a:srgbClr val="6BBF8E"/>
                </a:solidFill>
              </a:rPr>
              <a:t>Positive phrasing only</a:t>
            </a:r>
            <a:endParaRPr lang="en-US" sz="1800" dirty="0"/>
          </a:p>
        </p:txBody>
      </p:sp>
      <p:sp>
        <p:nvSpPr>
          <p:cNvPr id="8" name="Text 6"/>
          <p:cNvSpPr txBox="1"/>
          <p:nvPr/>
        </p:nvSpPr>
        <p:spPr>
          <a:xfrm>
            <a:off x="6537960" y="2194560"/>
            <a:ext cx="4846320" cy="411480"/>
          </a:xfrm>
          <a:prstGeom prst="rect">
            <a:avLst/>
          </a:prstGeom>
          <a:noFill/>
          <a:ln/>
        </p:spPr>
        <p:txBody>
          <a:bodyPr wrap="square" lIns="0" tIns="0" rIns="0" bIns="0" rtlCol="0" anchor="t"/>
          <a:lstStyle/>
          <a:p>
            <a:pPr indent="0" marL="0">
              <a:buNone/>
            </a:pPr>
            <a:r>
              <a:rPr lang="en-US" sz="1400" dirty="0">
                <a:solidFill>
                  <a:schemeClr val="tx1"/>
                </a:solidFill>
              </a:rPr>
              <a:t>“Don’t run” is refused in favour of “Walk”.</a:t>
            </a:r>
            <a:endParaRPr lang="en-US" sz="1400" dirty="0"/>
          </a:p>
        </p:txBody>
      </p:sp>
      <p:sp>
        <p:nvSpPr>
          <p:cNvPr id="9" name="card-No Then card, no save"/>
          <p:cNvSpPr/>
          <p:nvPr/>
        </p:nvSpPr>
        <p:spPr>
          <a:xfrm>
            <a:off x="548640" y="3108960"/>
            <a:ext cx="5394960" cy="1371600"/>
          </a:xfrm>
          <a:prstGeom prst="roundRect">
            <a:avLst>
              <a:gd name="adj" fmla="val 8000"/>
            </a:avLst>
          </a:prstGeom>
          <a:solidFill>
            <a:srgbClr val="F7FBFF"/>
          </a:solidFill>
          <a:ln w="22225">
            <a:solidFill>
              <a:srgbClr val="A8600C"/>
            </a:solidFill>
            <a:prstDash val="solid"/>
          </a:ln>
        </p:spPr>
      </p:sp>
      <p:sp>
        <p:nvSpPr>
          <p:cNvPr id="10" name="Text 8"/>
          <p:cNvSpPr txBox="1"/>
          <p:nvPr/>
        </p:nvSpPr>
        <p:spPr>
          <a:xfrm>
            <a:off x="822960" y="3337560"/>
            <a:ext cx="4846320" cy="384048"/>
          </a:xfrm>
          <a:prstGeom prst="rect">
            <a:avLst/>
          </a:prstGeom>
          <a:noFill/>
          <a:ln/>
        </p:spPr>
        <p:txBody>
          <a:bodyPr wrap="square" lIns="0" tIns="0" rIns="0" bIns="0" rtlCol="0" anchor="ctr"/>
          <a:lstStyle/>
          <a:p>
            <a:pPr indent="0" marL="0">
              <a:buNone/>
            </a:pPr>
            <a:r>
              <a:rPr lang="en-US" sz="1800" b="1" dirty="0">
                <a:solidFill>
                  <a:srgbClr val="A8600C"/>
                </a:solidFill>
              </a:rPr>
              <a:t>No Then card, no save</a:t>
            </a:r>
            <a:endParaRPr lang="en-US" sz="1800" dirty="0"/>
          </a:p>
        </p:txBody>
      </p:sp>
      <p:sp>
        <p:nvSpPr>
          <p:cNvPr id="11" name="Text 9"/>
          <p:cNvSpPr txBox="1"/>
          <p:nvPr/>
        </p:nvSpPr>
        <p:spPr>
          <a:xfrm>
            <a:off x="822960" y="3794760"/>
            <a:ext cx="4846320" cy="411480"/>
          </a:xfrm>
          <a:prstGeom prst="rect">
            <a:avLst/>
          </a:prstGeom>
          <a:noFill/>
          <a:ln/>
        </p:spPr>
        <p:txBody>
          <a:bodyPr wrap="square" lIns="0" tIns="0" rIns="0" bIns="0" rtlCol="0" anchor="t"/>
          <a:lstStyle/>
          <a:p>
            <a:pPr indent="0" marL="0">
              <a:buNone/>
            </a:pPr>
            <a:r>
              <a:rPr lang="en-US" sz="1400" dirty="0">
                <a:solidFill>
                  <a:schemeClr val="tx1"/>
                </a:solidFill>
              </a:rPr>
              <a:t>A First–Then board cannot exist without its reward.</a:t>
            </a:r>
            <a:endParaRPr lang="en-US" sz="1400" dirty="0"/>
          </a:p>
        </p:txBody>
      </p:sp>
      <p:sp>
        <p:nvSpPr>
          <p:cNvPr id="12" name="card-No diagnosis, no clinical advice"/>
          <p:cNvSpPr/>
          <p:nvPr/>
        </p:nvSpPr>
        <p:spPr>
          <a:xfrm>
            <a:off x="6263640" y="3108960"/>
            <a:ext cx="5394960" cy="1371600"/>
          </a:xfrm>
          <a:prstGeom prst="roundRect">
            <a:avLst>
              <a:gd name="adj" fmla="val 8000"/>
            </a:avLst>
          </a:prstGeom>
          <a:solidFill>
            <a:srgbClr val="F7FBFF"/>
          </a:solidFill>
          <a:ln w="22225">
            <a:solidFill>
              <a:srgbClr val="F28B82"/>
            </a:solidFill>
            <a:prstDash val="solid"/>
          </a:ln>
        </p:spPr>
      </p:sp>
      <p:sp>
        <p:nvSpPr>
          <p:cNvPr id="13" name="Text 11"/>
          <p:cNvSpPr txBox="1"/>
          <p:nvPr/>
        </p:nvSpPr>
        <p:spPr>
          <a:xfrm>
            <a:off x="6537960" y="3337560"/>
            <a:ext cx="4846320" cy="384048"/>
          </a:xfrm>
          <a:prstGeom prst="rect">
            <a:avLst/>
          </a:prstGeom>
          <a:noFill/>
          <a:ln/>
        </p:spPr>
        <p:txBody>
          <a:bodyPr wrap="square" lIns="0" tIns="0" rIns="0" bIns="0" rtlCol="0" anchor="ctr"/>
          <a:lstStyle/>
          <a:p>
            <a:pPr indent="0" marL="0">
              <a:buNone/>
            </a:pPr>
            <a:r>
              <a:rPr lang="en-US" sz="1800" b="1" dirty="0">
                <a:solidFill>
                  <a:srgbClr val="F28B82"/>
                </a:solidFill>
              </a:rPr>
              <a:t>No diagnosis, no clinical advice</a:t>
            </a:r>
            <a:endParaRPr lang="en-US" sz="1800" dirty="0"/>
          </a:p>
        </p:txBody>
      </p:sp>
      <p:sp>
        <p:nvSpPr>
          <p:cNvPr id="14" name="Text 12"/>
          <p:cNvSpPr txBox="1"/>
          <p:nvPr/>
        </p:nvSpPr>
        <p:spPr>
          <a:xfrm>
            <a:off x="6537960" y="3794760"/>
            <a:ext cx="4846320" cy="411480"/>
          </a:xfrm>
          <a:prstGeom prst="rect">
            <a:avLst/>
          </a:prstGeom>
          <a:noFill/>
          <a:ln/>
        </p:spPr>
        <p:txBody>
          <a:bodyPr wrap="square" lIns="0" tIns="0" rIns="0" bIns="0" rtlCol="0" anchor="t"/>
          <a:lstStyle/>
          <a:p>
            <a:pPr indent="0" marL="0">
              <a:buNone/>
            </a:pPr>
            <a:r>
              <a:rPr lang="en-US" sz="1400" dirty="0">
                <a:solidFill>
                  <a:schemeClr val="tx1"/>
                </a:solidFill>
              </a:rPr>
              <a:t>Self-injury or escalation in the text surfaces referral guidance instead of a board.</a:t>
            </a:r>
            <a:endParaRPr lang="en-US" sz="1400" dirty="0"/>
          </a:p>
        </p:txBody>
      </p:sp>
      <p:sp>
        <p:nvSpPr>
          <p:cNvPr id="15" name="card-The child’s name never leaves"/>
          <p:cNvSpPr/>
          <p:nvPr/>
        </p:nvSpPr>
        <p:spPr>
          <a:xfrm>
            <a:off x="548640" y="4709160"/>
            <a:ext cx="5394960" cy="1371600"/>
          </a:xfrm>
          <a:prstGeom prst="roundRect">
            <a:avLst>
              <a:gd name="adj" fmla="val 8000"/>
            </a:avLst>
          </a:prstGeom>
          <a:solidFill>
            <a:srgbClr val="F7FBFF"/>
          </a:solidFill>
          <a:ln w="22225">
            <a:solidFill>
              <a:srgbClr val="006B3C"/>
            </a:solidFill>
            <a:prstDash val="solid"/>
          </a:ln>
        </p:spPr>
      </p:sp>
      <p:sp>
        <p:nvSpPr>
          <p:cNvPr id="16" name="Text 14"/>
          <p:cNvSpPr txBox="1"/>
          <p:nvPr/>
        </p:nvSpPr>
        <p:spPr>
          <a:xfrm>
            <a:off x="822960" y="4937760"/>
            <a:ext cx="4846320" cy="384048"/>
          </a:xfrm>
          <a:prstGeom prst="rect">
            <a:avLst/>
          </a:prstGeom>
          <a:noFill/>
          <a:ln/>
        </p:spPr>
        <p:txBody>
          <a:bodyPr wrap="square" lIns="0" tIns="0" rIns="0" bIns="0" rtlCol="0" anchor="ctr"/>
          <a:lstStyle/>
          <a:p>
            <a:pPr indent="0" marL="0">
              <a:buNone/>
            </a:pPr>
            <a:r>
              <a:rPr lang="en-US" sz="1800" b="1" dirty="0">
                <a:solidFill>
                  <a:srgbClr val="006B3C"/>
                </a:solidFill>
              </a:rPr>
              <a:t>The child’s name never leaves</a:t>
            </a:r>
            <a:endParaRPr lang="en-US" sz="1800" dirty="0"/>
          </a:p>
        </p:txBody>
      </p:sp>
      <p:sp>
        <p:nvSpPr>
          <p:cNvPr id="17" name="Text 15"/>
          <p:cNvSpPr txBox="1"/>
          <p:nvPr/>
        </p:nvSpPr>
        <p:spPr>
          <a:xfrm>
            <a:off x="822960" y="5394960"/>
            <a:ext cx="4846320" cy="411480"/>
          </a:xfrm>
          <a:prstGeom prst="rect">
            <a:avLst/>
          </a:prstGeom>
          <a:noFill/>
          <a:ln/>
        </p:spPr>
        <p:txBody>
          <a:bodyPr wrap="square" lIns="0" tIns="0" rIns="0" bIns="0" rtlCol="0" anchor="t"/>
          <a:lstStyle/>
          <a:p>
            <a:pPr indent="0" marL="0">
              <a:buNone/>
            </a:pPr>
            <a:r>
              <a:rPr lang="en-US" sz="1400" dirty="0">
                <a:solidFill>
                  <a:schemeClr val="tx1"/>
                </a:solidFill>
              </a:rPr>
              <a:t>Image prompts say “a child”. Profiles are never training input.</a:t>
            </a:r>
            <a:endParaRPr lang="en-US" sz="1400" dirty="0"/>
          </a:p>
        </p:txBody>
      </p:sp>
      <p:sp>
        <p:nvSpPr>
          <p:cNvPr id="18" name="card-Open source"/>
          <p:cNvSpPr/>
          <p:nvPr/>
        </p:nvSpPr>
        <p:spPr>
          <a:xfrm>
            <a:off x="6263640" y="4709160"/>
            <a:ext cx="5394960" cy="1371600"/>
          </a:xfrm>
          <a:prstGeom prst="roundRect">
            <a:avLst>
              <a:gd name="adj" fmla="val 8000"/>
            </a:avLst>
          </a:prstGeom>
          <a:solidFill>
            <a:srgbClr val="F7FBFF"/>
          </a:solidFill>
          <a:ln w="22225">
            <a:solidFill>
              <a:srgbClr val="5BA4CF"/>
            </a:solidFill>
            <a:prstDash val="solid"/>
          </a:ln>
        </p:spPr>
      </p:sp>
      <p:sp>
        <p:nvSpPr>
          <p:cNvPr id="19" name="Text 17"/>
          <p:cNvSpPr txBox="1"/>
          <p:nvPr/>
        </p:nvSpPr>
        <p:spPr>
          <a:xfrm>
            <a:off x="6537960" y="4937760"/>
            <a:ext cx="4846320" cy="384048"/>
          </a:xfrm>
          <a:prstGeom prst="rect">
            <a:avLst/>
          </a:prstGeom>
          <a:noFill/>
          <a:ln/>
        </p:spPr>
        <p:txBody>
          <a:bodyPr wrap="square" lIns="0" tIns="0" rIns="0" bIns="0" rtlCol="0" anchor="ctr"/>
          <a:lstStyle/>
          <a:p>
            <a:pPr indent="0" marL="0">
              <a:buNone/>
            </a:pPr>
            <a:r>
              <a:rPr lang="en-US" sz="1800" b="1" dirty="0">
                <a:solidFill>
                  <a:srgbClr val="5BA4CF"/>
                </a:solidFill>
              </a:rPr>
              <a:t>Open source</a:t>
            </a:r>
            <a:endParaRPr lang="en-US" sz="1800" dirty="0"/>
          </a:p>
        </p:txBody>
      </p:sp>
      <p:sp>
        <p:nvSpPr>
          <p:cNvPr id="20" name="Text 18"/>
          <p:cNvSpPr txBox="1"/>
          <p:nvPr/>
        </p:nvSpPr>
        <p:spPr>
          <a:xfrm>
            <a:off x="6537960" y="5394960"/>
            <a:ext cx="4846320" cy="411480"/>
          </a:xfrm>
          <a:prstGeom prst="rect">
            <a:avLst/>
          </a:prstGeom>
          <a:noFill/>
          <a:ln/>
        </p:spPr>
        <p:txBody>
          <a:bodyPr wrap="square" lIns="0" tIns="0" rIns="0" bIns="0" rtlCol="0" anchor="t"/>
          <a:lstStyle/>
          <a:p>
            <a:pPr indent="0" marL="0">
              <a:buNone/>
            </a:pPr>
            <a:r>
              <a:rPr lang="en-US" sz="1400" dirty="0">
                <a:solidFill>
                  <a:schemeClr val="tx1"/>
                </a:solidFill>
              </a:rPr>
              <a:t>Per the hackathon rules, so any family or nonprofit can run it.</a:t>
            </a:r>
            <a:endParaRPr lang="en-US" sz="1400" dirty="0"/>
          </a:p>
        </p:txBody>
      </p:sp>
      <p:sp>
        <p:nvSpPr>
          <p:cNvPr id="25" name="Slide Number Placeholder 0"/>
          <p:cNvSpPr>
            <a:spLocks noGrp="1"/>
          </p:cNvSpPr>
          <p:nvPr>
            <p:ph type="sldNum" sz="quarter" idx="4294967295"/>
          </p:nvPr>
        </p:nvSpPr>
        <p:spPr>
          <a:xfrm>
            <a:off x="115214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A4C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914400"/>
          </a:xfrm>
          <a:prstGeom prst="rect">
            <a:avLst/>
          </a:prstGeom>
          <a:noFill/>
          <a:ln/>
        </p:spPr>
        <p:txBody>
          <a:bodyPr wrap="square" rtlCol="0" anchor="ctr"/>
          <a:lstStyle/>
          <a:p>
            <a:pPr algn="l" indent="0" marL="0">
              <a:buNone/>
            </a:pPr>
            <a:r>
              <a:rPr lang="en-US" sz="3200" b="1" dirty="0">
                <a:solidFill>
                  <a:schemeClr val="tx1"/>
                </a:solidFill>
              </a:rPr>
              <a:t>Seven days, demo path first</a:t>
            </a:r>
            <a:endParaRPr lang="en-US" sz="3200" dirty="0"/>
          </a:p>
        </p:txBody>
      </p:sp>
      <p:sp>
        <p:nvSpPr>
          <p:cNvPr id="3" name="d0"/>
          <p:cNvSpPr/>
          <p:nvPr/>
        </p:nvSpPr>
        <p:spPr>
          <a:xfrm>
            <a:off x="548640" y="1463040"/>
            <a:ext cx="1371600" cy="566928"/>
          </a:xfrm>
          <a:prstGeom prst="roundRect">
            <a:avLst>
              <a:gd name="adj" fmla="val 12903"/>
            </a:avLst>
          </a:prstGeom>
          <a:solidFill>
            <a:srgbClr val="5BA4CF"/>
          </a:solidFill>
          <a:ln/>
        </p:spPr>
      </p:sp>
      <p:sp>
        <p:nvSpPr>
          <p:cNvPr id="4" name="Text 2"/>
          <p:cNvSpPr txBox="1"/>
          <p:nvPr/>
        </p:nvSpPr>
        <p:spPr>
          <a:xfrm>
            <a:off x="548640" y="1463040"/>
            <a:ext cx="1371600" cy="566928"/>
          </a:xfrm>
          <a:prstGeom prst="rect">
            <a:avLst/>
          </a:prstGeom>
          <a:noFill/>
          <a:ln/>
        </p:spPr>
        <p:txBody>
          <a:bodyPr wrap="square" lIns="0" tIns="0" rIns="0" bIns="0" rtlCol="0" anchor="ctr"/>
          <a:lstStyle/>
          <a:p>
            <a:pPr algn="ctr" indent="0" marL="0">
              <a:buNone/>
            </a:pPr>
            <a:r>
              <a:rPr lang="en-US" sz="1400" b="1" dirty="0">
                <a:solidFill>
                  <a:srgbClr val="FFFFFF"/>
                </a:solidFill>
              </a:rPr>
              <a:t>2 Nov</a:t>
            </a:r>
            <a:endParaRPr lang="en-US" sz="1400" dirty="0"/>
          </a:p>
        </p:txBody>
      </p:sp>
      <p:sp>
        <p:nvSpPr>
          <p:cNvPr id="5" name="Text 3"/>
          <p:cNvSpPr txBox="1"/>
          <p:nvPr/>
        </p:nvSpPr>
        <p:spPr>
          <a:xfrm>
            <a:off x="2103120" y="1463040"/>
            <a:ext cx="2743200" cy="566928"/>
          </a:xfrm>
          <a:prstGeom prst="rect">
            <a:avLst/>
          </a:prstGeom>
          <a:noFill/>
          <a:ln/>
        </p:spPr>
        <p:txBody>
          <a:bodyPr wrap="square" lIns="0" tIns="0" rIns="0" bIns="0" rtlCol="0" anchor="ctr"/>
          <a:lstStyle/>
          <a:p>
            <a:pPr indent="0" marL="0">
              <a:buNone/>
            </a:pPr>
            <a:r>
              <a:rPr lang="en-US" sz="1600" b="1" dirty="0">
                <a:solidFill>
                  <a:schemeClr val="tx1"/>
                </a:solidFill>
              </a:rPr>
              <a:t>Kickoff</a:t>
            </a:r>
            <a:endParaRPr lang="en-US" sz="1600" dirty="0"/>
          </a:p>
        </p:txBody>
      </p:sp>
      <p:sp>
        <p:nvSpPr>
          <p:cNvPr id="6" name="Text 4"/>
          <p:cNvSpPr txBox="1"/>
          <p:nvPr/>
        </p:nvSpPr>
        <p:spPr>
          <a:xfrm>
            <a:off x="4937760" y="1463040"/>
            <a:ext cx="6675120" cy="566928"/>
          </a:xfrm>
          <a:prstGeom prst="rect">
            <a:avLst/>
          </a:prstGeom>
          <a:noFill/>
          <a:ln/>
        </p:spPr>
        <p:txBody>
          <a:bodyPr wrap="square" lIns="0" tIns="0" rIns="0" bIns="0" rtlCol="0" anchor="ctr"/>
          <a:lstStyle/>
          <a:p>
            <a:pPr indent="0" marL="0">
              <a:buNone/>
            </a:pPr>
            <a:r>
              <a:rPr lang="en-US" sz="1400" dirty="0">
                <a:solidFill>
                  <a:srgbClr val="4C5C57"/>
                </a:solidFill>
              </a:rPr>
              <a:t>Re-plan against the ODC features and scoring announced there.</a:t>
            </a:r>
            <a:endParaRPr lang="en-US" sz="1400" dirty="0"/>
          </a:p>
        </p:txBody>
      </p:sp>
      <p:sp>
        <p:nvSpPr>
          <p:cNvPr id="7" name="d1"/>
          <p:cNvSpPr/>
          <p:nvPr/>
        </p:nvSpPr>
        <p:spPr>
          <a:xfrm>
            <a:off x="548640" y="2231136"/>
            <a:ext cx="1371600" cy="566928"/>
          </a:xfrm>
          <a:prstGeom prst="roundRect">
            <a:avLst>
              <a:gd name="adj" fmla="val 12903"/>
            </a:avLst>
          </a:prstGeom>
          <a:solidFill>
            <a:srgbClr val="5BA4CF"/>
          </a:solidFill>
          <a:ln/>
        </p:spPr>
      </p:sp>
      <p:sp>
        <p:nvSpPr>
          <p:cNvPr id="8" name="Text 6"/>
          <p:cNvSpPr txBox="1"/>
          <p:nvPr/>
        </p:nvSpPr>
        <p:spPr>
          <a:xfrm>
            <a:off x="548640" y="2231136"/>
            <a:ext cx="1371600" cy="566928"/>
          </a:xfrm>
          <a:prstGeom prst="rect">
            <a:avLst/>
          </a:prstGeom>
          <a:noFill/>
          <a:ln/>
        </p:spPr>
        <p:txBody>
          <a:bodyPr wrap="square" lIns="0" tIns="0" rIns="0" bIns="0" rtlCol="0" anchor="ctr"/>
          <a:lstStyle/>
          <a:p>
            <a:pPr algn="ctr" indent="0" marL="0">
              <a:buNone/>
            </a:pPr>
            <a:r>
              <a:rPr lang="en-US" sz="1400" b="1" dirty="0">
                <a:solidFill>
                  <a:srgbClr val="FFFFFF"/>
                </a:solidFill>
              </a:rPr>
              <a:t>3–4 Nov</a:t>
            </a:r>
            <a:endParaRPr lang="en-US" sz="1400" dirty="0"/>
          </a:p>
        </p:txBody>
      </p:sp>
      <p:sp>
        <p:nvSpPr>
          <p:cNvPr id="9" name="Text 7"/>
          <p:cNvSpPr txBox="1"/>
          <p:nvPr/>
        </p:nvSpPr>
        <p:spPr>
          <a:xfrm>
            <a:off x="2103120" y="2231136"/>
            <a:ext cx="2743200" cy="566928"/>
          </a:xfrm>
          <a:prstGeom prst="rect">
            <a:avLst/>
          </a:prstGeom>
          <a:noFill/>
          <a:ln/>
        </p:spPr>
        <p:txBody>
          <a:bodyPr wrap="square" lIns="0" tIns="0" rIns="0" bIns="0" rtlCol="0" anchor="ctr"/>
          <a:lstStyle/>
          <a:p>
            <a:pPr indent="0" marL="0">
              <a:buNone/>
            </a:pPr>
            <a:r>
              <a:rPr lang="en-US" sz="1600" b="1" dirty="0">
                <a:solidFill>
                  <a:schemeClr val="tx1"/>
                </a:solidFill>
              </a:rPr>
              <a:t>Model + agents</a:t>
            </a:r>
            <a:endParaRPr lang="en-US" sz="1600" dirty="0"/>
          </a:p>
        </p:txBody>
      </p:sp>
      <p:sp>
        <p:nvSpPr>
          <p:cNvPr id="10" name="Text 8"/>
          <p:cNvSpPr txBox="1"/>
          <p:nvPr/>
        </p:nvSpPr>
        <p:spPr>
          <a:xfrm>
            <a:off x="4937760" y="2231136"/>
            <a:ext cx="6675120" cy="566928"/>
          </a:xfrm>
          <a:prstGeom prst="rect">
            <a:avLst/>
          </a:prstGeom>
          <a:noFill/>
          <a:ln/>
        </p:spPr>
        <p:txBody>
          <a:bodyPr wrap="square" lIns="0" tIns="0" rIns="0" bIns="0" rtlCol="0" anchor="ctr"/>
          <a:lstStyle/>
          <a:p>
            <a:pPr indent="0" marL="0">
              <a:buNone/>
            </a:pPr>
            <a:r>
              <a:rPr lang="en-US" sz="1400" dirty="0">
                <a:solidFill>
                  <a:srgbClr val="4C5C57"/>
                </a:solidFill>
              </a:rPr>
              <a:t>Entities, child profile, Composer and Reviewer on the First–Then branch.</a:t>
            </a:r>
            <a:endParaRPr lang="en-US" sz="1400" dirty="0"/>
          </a:p>
        </p:txBody>
      </p:sp>
      <p:sp>
        <p:nvSpPr>
          <p:cNvPr id="11" name="d2"/>
          <p:cNvSpPr/>
          <p:nvPr/>
        </p:nvSpPr>
        <p:spPr>
          <a:xfrm>
            <a:off x="548640" y="2999232"/>
            <a:ext cx="1371600" cy="566928"/>
          </a:xfrm>
          <a:prstGeom prst="roundRect">
            <a:avLst>
              <a:gd name="adj" fmla="val 12903"/>
            </a:avLst>
          </a:prstGeom>
          <a:solidFill>
            <a:srgbClr val="F28B82"/>
          </a:solidFill>
          <a:ln/>
        </p:spPr>
      </p:sp>
      <p:sp>
        <p:nvSpPr>
          <p:cNvPr id="12" name="Text 10"/>
          <p:cNvSpPr txBox="1"/>
          <p:nvPr/>
        </p:nvSpPr>
        <p:spPr>
          <a:xfrm>
            <a:off x="548640" y="2999232"/>
            <a:ext cx="1371600" cy="566928"/>
          </a:xfrm>
          <a:prstGeom prst="rect">
            <a:avLst/>
          </a:prstGeom>
          <a:noFill/>
          <a:ln/>
        </p:spPr>
        <p:txBody>
          <a:bodyPr wrap="square" lIns="0" tIns="0" rIns="0" bIns="0" rtlCol="0" anchor="ctr"/>
          <a:lstStyle/>
          <a:p>
            <a:pPr algn="ctr" indent="0" marL="0">
              <a:buNone/>
            </a:pPr>
            <a:r>
              <a:rPr lang="en-US" sz="1400" b="1" dirty="0">
                <a:solidFill>
                  <a:srgbClr val="FFFFFF"/>
                </a:solidFill>
              </a:rPr>
              <a:t>4 Nov</a:t>
            </a:r>
            <a:endParaRPr lang="en-US" sz="1400" dirty="0"/>
          </a:p>
        </p:txBody>
      </p:sp>
      <p:sp>
        <p:nvSpPr>
          <p:cNvPr id="13" name="Text 11"/>
          <p:cNvSpPr txBox="1"/>
          <p:nvPr/>
        </p:nvSpPr>
        <p:spPr>
          <a:xfrm>
            <a:off x="2103120" y="2999232"/>
            <a:ext cx="2743200" cy="566928"/>
          </a:xfrm>
          <a:prstGeom prst="rect">
            <a:avLst/>
          </a:prstGeom>
          <a:noFill/>
          <a:ln/>
        </p:spPr>
        <p:txBody>
          <a:bodyPr wrap="square" lIns="0" tIns="0" rIns="0" bIns="0" rtlCol="0" anchor="ctr"/>
          <a:lstStyle/>
          <a:p>
            <a:pPr indent="0" marL="0">
              <a:buNone/>
            </a:pPr>
            <a:r>
              <a:rPr lang="en-US" sz="1600" b="1" dirty="0">
                <a:solidFill>
                  <a:schemeClr val="tx1"/>
                </a:solidFill>
              </a:rPr>
              <a:t>Mid submission</a:t>
            </a:r>
            <a:endParaRPr lang="en-US" sz="1600" dirty="0"/>
          </a:p>
        </p:txBody>
      </p:sp>
      <p:sp>
        <p:nvSpPr>
          <p:cNvPr id="14" name="Text 12"/>
          <p:cNvSpPr txBox="1"/>
          <p:nvPr/>
        </p:nvSpPr>
        <p:spPr>
          <a:xfrm>
            <a:off x="4937760" y="2999232"/>
            <a:ext cx="6675120" cy="566928"/>
          </a:xfrm>
          <a:prstGeom prst="rect">
            <a:avLst/>
          </a:prstGeom>
          <a:noFill/>
          <a:ln/>
        </p:spPr>
        <p:txBody>
          <a:bodyPr wrap="square" lIns="0" tIns="0" rIns="0" bIns="0" rtlCol="0" anchor="ctr"/>
          <a:lstStyle/>
          <a:p>
            <a:pPr indent="0" marL="0">
              <a:buNone/>
            </a:pPr>
            <a:r>
              <a:rPr lang="en-US" sz="1400" dirty="0">
                <a:solidFill>
                  <a:srgbClr val="4C5C57"/>
                </a:solidFill>
              </a:rPr>
              <a:t>Problem, use case, AI services and integrations.</a:t>
            </a:r>
            <a:endParaRPr lang="en-US" sz="1400" dirty="0"/>
          </a:p>
        </p:txBody>
      </p:sp>
      <p:sp>
        <p:nvSpPr>
          <p:cNvPr id="15" name="d3"/>
          <p:cNvSpPr/>
          <p:nvPr/>
        </p:nvSpPr>
        <p:spPr>
          <a:xfrm>
            <a:off x="548640" y="3767328"/>
            <a:ext cx="1371600" cy="566928"/>
          </a:xfrm>
          <a:prstGeom prst="roundRect">
            <a:avLst>
              <a:gd name="adj" fmla="val 12903"/>
            </a:avLst>
          </a:prstGeom>
          <a:solidFill>
            <a:srgbClr val="5BA4CF"/>
          </a:solidFill>
          <a:ln/>
        </p:spPr>
      </p:sp>
      <p:sp>
        <p:nvSpPr>
          <p:cNvPr id="16" name="Text 14"/>
          <p:cNvSpPr txBox="1"/>
          <p:nvPr/>
        </p:nvSpPr>
        <p:spPr>
          <a:xfrm>
            <a:off x="548640" y="3767328"/>
            <a:ext cx="1371600" cy="566928"/>
          </a:xfrm>
          <a:prstGeom prst="rect">
            <a:avLst/>
          </a:prstGeom>
          <a:noFill/>
          <a:ln/>
        </p:spPr>
        <p:txBody>
          <a:bodyPr wrap="square" lIns="0" tIns="0" rIns="0" bIns="0" rtlCol="0" anchor="ctr"/>
          <a:lstStyle/>
          <a:p>
            <a:pPr algn="ctr" indent="0" marL="0">
              <a:buNone/>
            </a:pPr>
            <a:r>
              <a:rPr lang="en-US" sz="1400" b="1" dirty="0">
                <a:solidFill>
                  <a:srgbClr val="FFFFFF"/>
                </a:solidFill>
              </a:rPr>
              <a:t>5–7 Nov</a:t>
            </a:r>
            <a:endParaRPr lang="en-US" sz="1400" dirty="0"/>
          </a:p>
        </p:txBody>
      </p:sp>
      <p:sp>
        <p:nvSpPr>
          <p:cNvPr id="17" name="Text 15"/>
          <p:cNvSpPr txBox="1"/>
          <p:nvPr/>
        </p:nvSpPr>
        <p:spPr>
          <a:xfrm>
            <a:off x="2103120" y="3767328"/>
            <a:ext cx="2743200" cy="566928"/>
          </a:xfrm>
          <a:prstGeom prst="rect">
            <a:avLst/>
          </a:prstGeom>
          <a:noFill/>
          <a:ln/>
        </p:spPr>
        <p:txBody>
          <a:bodyPr wrap="square" lIns="0" tIns="0" rIns="0" bIns="0" rtlCol="0" anchor="ctr"/>
          <a:lstStyle/>
          <a:p>
            <a:pPr indent="0" marL="0">
              <a:buNone/>
            </a:pPr>
            <a:r>
              <a:rPr lang="en-US" sz="1600" b="1" dirty="0">
                <a:solidFill>
                  <a:schemeClr val="tx1"/>
                </a:solidFill>
              </a:rPr>
              <a:t>The demo path</a:t>
            </a:r>
            <a:endParaRPr lang="en-US" sz="1600" dirty="0"/>
          </a:p>
        </p:txBody>
      </p:sp>
      <p:sp>
        <p:nvSpPr>
          <p:cNvPr id="18" name="Text 16"/>
          <p:cNvSpPr txBox="1"/>
          <p:nvPr/>
        </p:nvSpPr>
        <p:spPr>
          <a:xfrm>
            <a:off x="4937760" y="3767328"/>
            <a:ext cx="6675120" cy="566928"/>
          </a:xfrm>
          <a:prstGeom prst="rect">
            <a:avLst/>
          </a:prstGeom>
          <a:noFill/>
          <a:ln/>
        </p:spPr>
        <p:txBody>
          <a:bodyPr wrap="square" lIns="0" tIns="0" rIns="0" bIns="0" rtlCol="0" anchor="ctr"/>
          <a:lstStyle/>
          <a:p>
            <a:pPr indent="0" marL="0">
              <a:buNone/>
            </a:pPr>
            <a:r>
              <a:rPr lang="en-US" sz="1400" dirty="0">
                <a:solidFill>
                  <a:srgbClr val="4C5C57"/>
                </a:solidFill>
              </a:rPr>
              <a:t>Wizard, editor, card library, print sheet, tablet mode, Twilio loop.</a:t>
            </a:r>
            <a:endParaRPr lang="en-US" sz="1400" dirty="0"/>
          </a:p>
        </p:txBody>
      </p:sp>
      <p:sp>
        <p:nvSpPr>
          <p:cNvPr id="19" name="d4"/>
          <p:cNvSpPr/>
          <p:nvPr/>
        </p:nvSpPr>
        <p:spPr>
          <a:xfrm>
            <a:off x="548640" y="4535424"/>
            <a:ext cx="1371600" cy="566928"/>
          </a:xfrm>
          <a:prstGeom prst="roundRect">
            <a:avLst>
              <a:gd name="adj" fmla="val 12903"/>
            </a:avLst>
          </a:prstGeom>
          <a:solidFill>
            <a:srgbClr val="5BA4CF"/>
          </a:solidFill>
          <a:ln/>
        </p:spPr>
      </p:sp>
      <p:sp>
        <p:nvSpPr>
          <p:cNvPr id="20" name="Text 18"/>
          <p:cNvSpPr txBox="1"/>
          <p:nvPr/>
        </p:nvSpPr>
        <p:spPr>
          <a:xfrm>
            <a:off x="548640" y="4535424"/>
            <a:ext cx="1371600" cy="566928"/>
          </a:xfrm>
          <a:prstGeom prst="rect">
            <a:avLst/>
          </a:prstGeom>
          <a:noFill/>
          <a:ln/>
        </p:spPr>
        <p:txBody>
          <a:bodyPr wrap="square" lIns="0" tIns="0" rIns="0" bIns="0" rtlCol="0" anchor="ctr"/>
          <a:lstStyle/>
          <a:p>
            <a:pPr algn="ctr" indent="0" marL="0">
              <a:buNone/>
            </a:pPr>
            <a:r>
              <a:rPr lang="en-US" sz="1400" b="1" dirty="0">
                <a:solidFill>
                  <a:srgbClr val="FFFFFF"/>
                </a:solidFill>
              </a:rPr>
              <a:t>8 Nov</a:t>
            </a:r>
            <a:endParaRPr lang="en-US" sz="1400" dirty="0"/>
          </a:p>
        </p:txBody>
      </p:sp>
      <p:sp>
        <p:nvSpPr>
          <p:cNvPr id="21" name="Text 19"/>
          <p:cNvSpPr txBox="1"/>
          <p:nvPr/>
        </p:nvSpPr>
        <p:spPr>
          <a:xfrm>
            <a:off x="2103120" y="4535424"/>
            <a:ext cx="2743200" cy="566928"/>
          </a:xfrm>
          <a:prstGeom prst="rect">
            <a:avLst/>
          </a:prstGeom>
          <a:noFill/>
          <a:ln/>
        </p:spPr>
        <p:txBody>
          <a:bodyPr wrap="square" lIns="0" tIns="0" rIns="0" bIns="0" rtlCol="0" anchor="ctr"/>
          <a:lstStyle/>
          <a:p>
            <a:pPr indent="0" marL="0">
              <a:buNone/>
            </a:pPr>
            <a:r>
              <a:rPr lang="en-US" sz="1600" b="1" dirty="0">
                <a:solidFill>
                  <a:schemeClr val="tx1"/>
                </a:solidFill>
              </a:rPr>
              <a:t>UX pass</a:t>
            </a:r>
            <a:endParaRPr lang="en-US" sz="1600" dirty="0"/>
          </a:p>
        </p:txBody>
      </p:sp>
      <p:sp>
        <p:nvSpPr>
          <p:cNvPr id="22" name="Text 20"/>
          <p:cNvSpPr txBox="1"/>
          <p:nvPr/>
        </p:nvSpPr>
        <p:spPr>
          <a:xfrm>
            <a:off x="4937760" y="4535424"/>
            <a:ext cx="6675120" cy="566928"/>
          </a:xfrm>
          <a:prstGeom prst="rect">
            <a:avLst/>
          </a:prstGeom>
          <a:noFill/>
          <a:ln/>
        </p:spPr>
        <p:txBody>
          <a:bodyPr wrap="square" lIns="0" tIns="0" rIns="0" bIns="0" rtlCol="0" anchor="ctr"/>
          <a:lstStyle/>
          <a:p>
            <a:pPr indent="0" marL="0">
              <a:buNone/>
            </a:pPr>
            <a:r>
              <a:rPr lang="en-US" sz="1400" dirty="0">
                <a:solidFill>
                  <a:srgbClr val="4C5C57"/>
                </a:solidFill>
              </a:rPr>
              <a:t>Every screen the video touches. Nothing new built.</a:t>
            </a:r>
            <a:endParaRPr lang="en-US" sz="1400" dirty="0"/>
          </a:p>
        </p:txBody>
      </p:sp>
      <p:sp>
        <p:nvSpPr>
          <p:cNvPr id="23" name="d5"/>
          <p:cNvSpPr/>
          <p:nvPr/>
        </p:nvSpPr>
        <p:spPr>
          <a:xfrm>
            <a:off x="548640" y="5303520"/>
            <a:ext cx="1371600" cy="566928"/>
          </a:xfrm>
          <a:prstGeom prst="roundRect">
            <a:avLst>
              <a:gd name="adj" fmla="val 12903"/>
            </a:avLst>
          </a:prstGeom>
          <a:solidFill>
            <a:srgbClr val="F28B82"/>
          </a:solidFill>
          <a:ln/>
        </p:spPr>
      </p:sp>
      <p:sp>
        <p:nvSpPr>
          <p:cNvPr id="24" name="Text 22"/>
          <p:cNvSpPr txBox="1"/>
          <p:nvPr/>
        </p:nvSpPr>
        <p:spPr>
          <a:xfrm>
            <a:off x="548640" y="5303520"/>
            <a:ext cx="1371600" cy="566928"/>
          </a:xfrm>
          <a:prstGeom prst="rect">
            <a:avLst/>
          </a:prstGeom>
          <a:noFill/>
          <a:ln/>
        </p:spPr>
        <p:txBody>
          <a:bodyPr wrap="square" lIns="0" tIns="0" rIns="0" bIns="0" rtlCol="0" anchor="ctr"/>
          <a:lstStyle/>
          <a:p>
            <a:pPr algn="ctr" indent="0" marL="0">
              <a:buNone/>
            </a:pPr>
            <a:r>
              <a:rPr lang="en-US" sz="1400" b="1" dirty="0">
                <a:solidFill>
                  <a:srgbClr val="FFFFFF"/>
                </a:solidFill>
              </a:rPr>
              <a:t>9 Nov</a:t>
            </a:r>
            <a:endParaRPr lang="en-US" sz="1400" dirty="0"/>
          </a:p>
        </p:txBody>
      </p:sp>
      <p:sp>
        <p:nvSpPr>
          <p:cNvPr id="25" name="Text 23"/>
          <p:cNvSpPr txBox="1"/>
          <p:nvPr/>
        </p:nvSpPr>
        <p:spPr>
          <a:xfrm>
            <a:off x="2103120" y="5303520"/>
            <a:ext cx="2743200" cy="566928"/>
          </a:xfrm>
          <a:prstGeom prst="rect">
            <a:avLst/>
          </a:prstGeom>
          <a:noFill/>
          <a:ln/>
        </p:spPr>
        <p:txBody>
          <a:bodyPr wrap="square" lIns="0" tIns="0" rIns="0" bIns="0" rtlCol="0" anchor="ctr"/>
          <a:lstStyle/>
          <a:p>
            <a:pPr indent="0" marL="0">
              <a:buNone/>
            </a:pPr>
            <a:r>
              <a:rPr lang="en-US" sz="1600" b="1" dirty="0">
                <a:solidFill>
                  <a:schemeClr val="tx1"/>
                </a:solidFill>
              </a:rPr>
              <a:t>Submit</a:t>
            </a:r>
            <a:endParaRPr lang="en-US" sz="1600" dirty="0"/>
          </a:p>
        </p:txBody>
      </p:sp>
      <p:sp>
        <p:nvSpPr>
          <p:cNvPr id="26" name="Text 24"/>
          <p:cNvSpPr txBox="1"/>
          <p:nvPr/>
        </p:nvSpPr>
        <p:spPr>
          <a:xfrm>
            <a:off x="4937760" y="5303520"/>
            <a:ext cx="6675120" cy="566928"/>
          </a:xfrm>
          <a:prstGeom prst="rect">
            <a:avLst/>
          </a:prstGeom>
          <a:noFill/>
          <a:ln/>
        </p:spPr>
        <p:txBody>
          <a:bodyPr wrap="square" lIns="0" tIns="0" rIns="0" bIns="0" rtlCol="0" anchor="ctr"/>
          <a:lstStyle/>
          <a:p>
            <a:pPr indent="0" marL="0">
              <a:buNone/>
            </a:pPr>
            <a:r>
              <a:rPr lang="en-US" sz="1400" dirty="0">
                <a:solidFill>
                  <a:srgbClr val="4C5C57"/>
                </a:solidFill>
              </a:rPr>
              <a:t>Five-minute walkthrough the judges can replicate. 11:59 PM CET.</a:t>
            </a:r>
            <a:endParaRPr lang="en-US" sz="1400" dirty="0"/>
          </a:p>
        </p:txBody>
      </p:sp>
      <p:sp>
        <p:nvSpPr>
          <p:cNvPr id="27" name="caveat"/>
          <p:cNvSpPr/>
          <p:nvPr/>
        </p:nvSpPr>
        <p:spPr>
          <a:xfrm>
            <a:off x="548640" y="5870448"/>
            <a:ext cx="11064240" cy="457200"/>
          </a:xfrm>
          <a:prstGeom prst="roundRect">
            <a:avLst>
              <a:gd name="adj" fmla="val 16000"/>
            </a:avLst>
          </a:prstGeom>
          <a:solidFill>
            <a:srgbClr val="F7FBFF"/>
          </a:solidFill>
          <a:ln w="19050">
            <a:solidFill>
              <a:srgbClr val="5BA4CF"/>
            </a:solidFill>
            <a:prstDash val="solid"/>
          </a:ln>
        </p:spPr>
      </p:sp>
      <p:sp>
        <p:nvSpPr>
          <p:cNvPr id="28" name="Text 26"/>
          <p:cNvSpPr txBox="1"/>
          <p:nvPr/>
        </p:nvSpPr>
        <p:spPr>
          <a:xfrm>
            <a:off x="822960" y="5870448"/>
            <a:ext cx="10515600" cy="457200"/>
          </a:xfrm>
          <a:prstGeom prst="rect">
            <a:avLst/>
          </a:prstGeom>
          <a:noFill/>
          <a:ln/>
        </p:spPr>
        <p:txBody>
          <a:bodyPr wrap="square" lIns="0" tIns="0" rIns="0" bIns="0" rtlCol="0" anchor="ctr"/>
          <a:lstStyle/>
          <a:p>
            <a:pPr indent="0" marL="0">
              <a:buNone/>
            </a:pPr>
            <a:r>
              <a:rPr lang="en-US" sz="1300" dirty="0">
                <a:solidFill>
                  <a:schemeClr val="tx1"/>
                </a:solidFill>
              </a:rPr>
              <a:t>ODC access opens only after registration closes on 28 October — so nothing can be built before the 2 November kickoff.</a:t>
            </a:r>
            <a:endParaRPr lang="en-US" sz="1300" dirty="0"/>
          </a:p>
        </p:txBody>
      </p:sp>
      <p:sp>
        <p:nvSpPr>
          <p:cNvPr id="25" name="Slide Number Placeholder 0"/>
          <p:cNvSpPr>
            <a:spLocks noGrp="1"/>
          </p:cNvSpPr>
          <p:nvPr>
            <p:ph type="sldNum" sz="quarter" idx="4294967295"/>
          </p:nvPr>
        </p:nvSpPr>
        <p:spPr>
          <a:xfrm>
            <a:off x="115214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A4C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737360"/>
          </a:xfrm>
          <a:prstGeom prst="rect">
            <a:avLst/>
          </a:prstGeom>
          <a:noFill/>
          <a:ln/>
        </p:spPr>
        <p:txBody>
          <a:bodyPr wrap="square" rtlCol="0"/>
          <a:lstStyle/>
          <a:p>
            <a:pPr algn="l" indent="0" marL="0">
              <a:buNone/>
            </a:pPr>
            <a:r>
              <a:rPr lang="en-US" sz="4200" b="1" dirty="0">
                <a:solidFill>
                  <a:schemeClr val="bg1"/>
                </a:solidFill>
              </a:rPr>
              <a:t>Why this team</a:t>
            </a:r>
            <a:endParaRPr lang="en-US" sz="4200" dirty="0"/>
          </a:p>
        </p:txBody>
      </p:sp>
      <p:sp>
        <p:nvSpPr>
          <p:cNvPr id="3" name="Text 0"/>
          <p:cNvSpPr/>
          <p:nvPr>
            <p:ph idx="101" type="body" hasCustomPrompt="1"/>
          </p:nvPr>
        </p:nvSpPr>
        <p:spPr>
          <a:xfrm>
            <a:off x="731520" y="3977640"/>
            <a:ext cx="8595360" cy="1188720"/>
          </a:xfrm>
          <a:prstGeom prst="rect">
            <a:avLst/>
          </a:prstGeom>
          <a:noFill/>
          <a:ln/>
        </p:spPr>
        <p:txBody>
          <a:bodyPr wrap="square" rtlCol="0"/>
          <a:lstStyle/>
          <a:p>
            <a:pPr algn="l" indent="0" marL="0">
              <a:buNone/>
            </a:pPr>
            <a:r>
              <a:rPr lang="en-US" sz="1800" dirty="0">
                <a:solidFill>
                  <a:srgbClr val="5BA4CF"/>
                </a:solidFill>
              </a:rPr>
              <a:t>My daughter is autistic. My wife will be the first test user.</a:t>
            </a:r>
            <a:endParaRPr lang="en-US" sz="1800" dirty="0"/>
          </a:p>
        </p:txBody>
      </p:sp>
      <p:sp>
        <p:nvSpPr>
          <p:cNvPr id="4" name="Text 2"/>
          <p:cNvSpPr txBox="1"/>
          <p:nvPr/>
        </p:nvSpPr>
        <p:spPr>
          <a:xfrm>
            <a:off x="731520" y="4754880"/>
            <a:ext cx="8503920" cy="822960"/>
          </a:xfrm>
          <a:prstGeom prst="rect">
            <a:avLst/>
          </a:prstGeom>
          <a:noFill/>
          <a:ln/>
        </p:spPr>
        <p:txBody>
          <a:bodyPr wrap="square" lIns="0" tIns="0" rIns="0" bIns="0" rtlCol="0" anchor="ctr"/>
          <a:lstStyle/>
          <a:p>
            <a:pPr indent="0" marL="0">
              <a:buNone/>
            </a:pPr>
            <a:r>
              <a:rPr lang="en-US" sz="1700" dirty="0">
                <a:solidFill>
                  <a:srgbClr val="5BA4CF"/>
                </a:solidFill>
              </a:rPr>
              <a:t>I have been making these boards by hand for years, and I know exactly which forty minutes this app gives back.</a:t>
            </a:r>
            <a:endParaRPr lang="en-US" sz="1700" dirty="0"/>
          </a:p>
        </p:txBody>
      </p:sp>
      <p:pic>
        <p:nvPicPr>
          <p:cNvPr id="5" name="swing" descr="/mnt/c/users/ajaro/claude/resume/hackathon-future/assets/swing-badge.png">    </p:cNvPr>
          <p:cNvPicPr>
            <a:picLocks noChangeAspect="1"/>
          </p:cNvPicPr>
          <p:nvPr/>
        </p:nvPicPr>
        <p:blipFill>
          <a:blip r:embed="rId1"/>
          <a:stretch>
            <a:fillRect/>
          </a:stretch>
        </p:blipFill>
        <p:spPr>
          <a:xfrm>
            <a:off x="9601200" y="4069080"/>
            <a:ext cx="2011680" cy="2011680"/>
          </a:xfrm>
          <a:prstGeom prst="rect">
            <a:avLst/>
          </a:prstGeom>
        </p:spPr>
      </p:pic>
      <p:sp>
        <p:nvSpPr>
          <p:cNvPr id="6" name="Text 3"/>
          <p:cNvSpPr txBox="1"/>
          <p:nvPr/>
        </p:nvSpPr>
        <p:spPr>
          <a:xfrm>
            <a:off x="731520" y="5989320"/>
            <a:ext cx="8503920" cy="457200"/>
          </a:xfrm>
          <a:prstGeom prst="rect">
            <a:avLst/>
          </a:prstGeom>
          <a:noFill/>
          <a:ln/>
        </p:spPr>
        <p:txBody>
          <a:bodyPr wrap="square" lIns="0" tIns="0" rIns="0" bIns="0" rtlCol="0" anchor="ctr"/>
          <a:lstStyle/>
          <a:p>
            <a:pPr indent="0" marL="0">
              <a:buNone/>
            </a:pPr>
            <a:r>
              <a:rPr lang="en-US" sz="1300" i="1" dirty="0">
                <a:solidFill>
                  <a:srgbClr val="F9C74F"/>
                </a:solidFill>
              </a:rPr>
              <a:t>Nonprofit partner: Autism Speaks — whose Autism Treatment Network published the toolkit this is built on.</a:t>
            </a:r>
            <a:endParaRPr lang="en-US" sz="13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rust-boundaries-slide-2x.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Visual Supports">
  <a:themeElements>
    <a:clrScheme name="Visual Supports">
      <a:dk1>
        <a:srgbClr val="2D3748"/>
      </a:dk1>
      <a:lt1>
        <a:srgbClr val="FFFFFF"/>
      </a:lt1>
      <a:dk2>
        <a:srgbClr val="0B1E3D"/>
      </a:dk2>
      <a:lt2>
        <a:srgbClr val="F7FBFF"/>
      </a:lt2>
      <a:accent1>
        <a:srgbClr val="2E7CB8"/>
      </a:accent1>
      <a:accent2>
        <a:srgbClr val="5BA4CF"/>
      </a:accent2>
      <a:accent3>
        <a:srgbClr val="6BBF8E"/>
      </a:accent3>
      <a:accent4>
        <a:srgbClr val="F9C74F"/>
      </a:accent4>
      <a:accent5>
        <a:srgbClr val="006B3C"/>
      </a:accent5>
      <a:accent6>
        <a:srgbClr val="F28B82"/>
      </a:accent6>
      <a:hlink>
        <a:srgbClr val="2E7CB8"/>
      </a:hlink>
      <a:folHlink>
        <a:srgbClr val="6BBF8E"/>
      </a:folHlink>
    </a:clrScheme>
    <a:fontScheme name="Visual Supports">
      <a:majorFont>
        <a:latin typeface="Century Schoolboo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Autism Visual Supports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Autism Visual Supports</dc:title>
  <dc:subject>PptxGenJS Presentation</dc:subject>
  <dc:creator>A.J. Aronoff</dc:creator>
  <cp:lastModifiedBy>A.J. Aronoff</cp:lastModifiedBy>
  <cp:revision>1</cp:revision>
  <dcterms:created xsi:type="dcterms:W3CDTF">2026-10-23T05:13:19Z</dcterms:created>
  <dcterms:modified xsi:type="dcterms:W3CDTF">2026-10-23T05:13:19Z</dcterms:modified>
</cp:coreProperties>
</file>